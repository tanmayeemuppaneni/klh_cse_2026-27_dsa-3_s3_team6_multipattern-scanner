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Medium" charset="1" panose="02000000000000000000"/>
      <p:regular r:id="rId15"/>
    </p:embeddedFont>
    <p:embeddedFont>
      <p:font typeface="Horizon" charset="1" panose="02000500000000000000"/>
      <p:regular r:id="rId16"/>
    </p:embeddedFont>
    <p:embeddedFont>
      <p:font typeface="Poppins Bold" charset="1" panose="02000000000000000000"/>
      <p:regular r:id="rId17"/>
    </p:embeddedFont>
    <p:embeddedFont>
      <p:font typeface="EFCO Brookshire" charset="1" panose="00000000000000000000"/>
      <p:regular r:id="rId19"/>
    </p:embeddedFont>
    <p:embeddedFont>
      <p:font typeface="Amaranth" charset="1" panose="02000503050000020004"/>
      <p:regular r:id="rId20"/>
    </p:embeddedFont>
    <p:embeddedFont>
      <p:font typeface="Barlow Bold" charset="1" panose="00000800000000000000"/>
      <p:regular r:id="rId22"/>
    </p:embeddedFont>
    <p:embeddedFont>
      <p:font typeface="Arbutus Slab" charset="1" panose="02000000000000000000"/>
      <p:regular r:id="rId23"/>
    </p:embeddedFont>
    <p:embeddedFont>
      <p:font typeface="Varela Round" charset="1" panose="00000500000000000000"/>
      <p:regular r:id="rId25"/>
    </p:embeddedFont>
    <p:embeddedFont>
      <p:font typeface="Fredoka" charset="1" panose="02000000000000000000"/>
      <p:regular r:id="rId26"/>
    </p:embeddedFont>
    <p:embeddedFont>
      <p:font typeface="Inter" charset="1" panose="020B0502030000000004"/>
      <p:regular r:id="rId28"/>
    </p:embeddedFont>
    <p:embeddedFont>
      <p:font typeface="Nickainley" charset="1" panose="00000500000000000000"/>
      <p:regular r:id="rId29"/>
    </p:embeddedFont>
    <p:embeddedFont>
      <p:font typeface="The Seasons Bold" charset="1" panose="00000000000000000000"/>
      <p:regular r:id="rId31"/>
    </p:embeddedFont>
    <p:embeddedFont>
      <p:font typeface="Tenor Sans" charset="1" panose="02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11915" y="3693795"/>
            <a:ext cx="11540490" cy="11540490"/>
            <a:chOff x="0" y="0"/>
            <a:chExt cx="15387320" cy="15387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87320" cy="15387320"/>
            </a:xfrm>
            <a:custGeom>
              <a:avLst/>
              <a:gdLst/>
              <a:ahLst/>
              <a:cxnLst/>
              <a:rect r="r" b="b" t="t" l="l"/>
              <a:pathLst>
                <a:path h="15387320" w="15387320">
                  <a:moveTo>
                    <a:pt x="0" y="7693660"/>
                  </a:moveTo>
                  <a:cubicBezTo>
                    <a:pt x="0" y="3444621"/>
                    <a:pt x="3444621" y="0"/>
                    <a:pt x="7693660" y="0"/>
                  </a:cubicBezTo>
                  <a:cubicBezTo>
                    <a:pt x="11942699" y="0"/>
                    <a:pt x="15387320" y="3444621"/>
                    <a:pt x="15387320" y="7693660"/>
                  </a:cubicBezTo>
                  <a:cubicBezTo>
                    <a:pt x="15387320" y="11942699"/>
                    <a:pt x="11942699" y="15387320"/>
                    <a:pt x="7693660" y="15387320"/>
                  </a:cubicBezTo>
                  <a:cubicBezTo>
                    <a:pt x="3444621" y="15387320"/>
                    <a:pt x="0" y="11942699"/>
                    <a:pt x="0" y="769366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0FB5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883515" y="5065395"/>
            <a:ext cx="8797290" cy="8797290"/>
            <a:chOff x="0" y="0"/>
            <a:chExt cx="11729720" cy="11729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29720" cy="11729720"/>
            </a:xfrm>
            <a:custGeom>
              <a:avLst/>
              <a:gdLst/>
              <a:ahLst/>
              <a:cxnLst/>
              <a:rect r="r" b="b" t="t" l="l"/>
              <a:pathLst>
                <a:path h="11729720" w="11729720">
                  <a:moveTo>
                    <a:pt x="0" y="5864860"/>
                  </a:moveTo>
                  <a:cubicBezTo>
                    <a:pt x="0" y="2625725"/>
                    <a:pt x="2625725" y="0"/>
                    <a:pt x="5864860" y="0"/>
                  </a:cubicBezTo>
                  <a:cubicBezTo>
                    <a:pt x="9103995" y="0"/>
                    <a:pt x="11729720" y="2625725"/>
                    <a:pt x="11729720" y="5864860"/>
                  </a:cubicBezTo>
                  <a:cubicBezTo>
                    <a:pt x="11729720" y="9103995"/>
                    <a:pt x="9103995" y="11729720"/>
                    <a:pt x="5864860" y="11729720"/>
                  </a:cubicBezTo>
                  <a:cubicBezTo>
                    <a:pt x="2625725" y="11729720"/>
                    <a:pt x="0" y="9103995"/>
                    <a:pt x="0" y="586486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0FB5A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255115" y="6436995"/>
            <a:ext cx="6054090" cy="6054090"/>
            <a:chOff x="0" y="0"/>
            <a:chExt cx="8072120" cy="8072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72120" cy="8072120"/>
            </a:xfrm>
            <a:custGeom>
              <a:avLst/>
              <a:gdLst/>
              <a:ahLst/>
              <a:cxnLst/>
              <a:rect r="r" b="b" t="t" l="l"/>
              <a:pathLst>
                <a:path h="8072120" w="8072120">
                  <a:moveTo>
                    <a:pt x="0" y="4036060"/>
                  </a:moveTo>
                  <a:cubicBezTo>
                    <a:pt x="0" y="1806956"/>
                    <a:pt x="1806956" y="0"/>
                    <a:pt x="4036060" y="0"/>
                  </a:cubicBezTo>
                  <a:cubicBezTo>
                    <a:pt x="6265164" y="0"/>
                    <a:pt x="8072120" y="1806956"/>
                    <a:pt x="8072120" y="4036060"/>
                  </a:cubicBezTo>
                  <a:cubicBezTo>
                    <a:pt x="8072120" y="6265164"/>
                    <a:pt x="6265164" y="8072120"/>
                    <a:pt x="4036060" y="8072120"/>
                  </a:cubicBezTo>
                  <a:cubicBezTo>
                    <a:pt x="1806956" y="8072120"/>
                    <a:pt x="0" y="6265164"/>
                    <a:pt x="0" y="403606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0FB5A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470380" y="754380"/>
            <a:ext cx="61722" cy="61722"/>
            <a:chOff x="0" y="0"/>
            <a:chExt cx="82296" cy="82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826996" y="754380"/>
            <a:ext cx="61722" cy="61722"/>
            <a:chOff x="0" y="0"/>
            <a:chExt cx="82296" cy="822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83612" y="754380"/>
            <a:ext cx="61722" cy="61722"/>
            <a:chOff x="0" y="0"/>
            <a:chExt cx="82296" cy="82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540228" y="754380"/>
            <a:ext cx="61722" cy="61722"/>
            <a:chOff x="0" y="0"/>
            <a:chExt cx="82296" cy="822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896844" y="754380"/>
            <a:ext cx="61722" cy="61722"/>
            <a:chOff x="0" y="0"/>
            <a:chExt cx="82296" cy="822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253460" y="754380"/>
            <a:ext cx="61722" cy="61722"/>
            <a:chOff x="0" y="0"/>
            <a:chExt cx="82296" cy="822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610076" y="754380"/>
            <a:ext cx="61722" cy="61722"/>
            <a:chOff x="0" y="0"/>
            <a:chExt cx="82296" cy="822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966692" y="754380"/>
            <a:ext cx="61722" cy="61722"/>
            <a:chOff x="0" y="0"/>
            <a:chExt cx="82296" cy="822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323308" y="754380"/>
            <a:ext cx="61722" cy="61722"/>
            <a:chOff x="0" y="0"/>
            <a:chExt cx="82296" cy="822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470380" y="1110996"/>
            <a:ext cx="61722" cy="61722"/>
            <a:chOff x="0" y="0"/>
            <a:chExt cx="82296" cy="822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826996" y="1110996"/>
            <a:ext cx="61722" cy="61722"/>
            <a:chOff x="0" y="0"/>
            <a:chExt cx="82296" cy="822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183612" y="1110996"/>
            <a:ext cx="61722" cy="61722"/>
            <a:chOff x="0" y="0"/>
            <a:chExt cx="82296" cy="822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540228" y="1110996"/>
            <a:ext cx="61722" cy="61722"/>
            <a:chOff x="0" y="0"/>
            <a:chExt cx="82296" cy="822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896844" y="1110996"/>
            <a:ext cx="61722" cy="61722"/>
            <a:chOff x="0" y="0"/>
            <a:chExt cx="82296" cy="822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253460" y="1110996"/>
            <a:ext cx="61722" cy="61722"/>
            <a:chOff x="0" y="0"/>
            <a:chExt cx="82296" cy="822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610076" y="1110996"/>
            <a:ext cx="61722" cy="61722"/>
            <a:chOff x="0" y="0"/>
            <a:chExt cx="82296" cy="822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966692" y="1110996"/>
            <a:ext cx="61722" cy="61722"/>
            <a:chOff x="0" y="0"/>
            <a:chExt cx="82296" cy="822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323308" y="1110996"/>
            <a:ext cx="61722" cy="61722"/>
            <a:chOff x="0" y="0"/>
            <a:chExt cx="82296" cy="822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470380" y="1467612"/>
            <a:ext cx="61722" cy="61722"/>
            <a:chOff x="0" y="0"/>
            <a:chExt cx="82296" cy="822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826996" y="1467612"/>
            <a:ext cx="61722" cy="61722"/>
            <a:chOff x="0" y="0"/>
            <a:chExt cx="82296" cy="822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183612" y="1467612"/>
            <a:ext cx="61722" cy="61722"/>
            <a:chOff x="0" y="0"/>
            <a:chExt cx="82296" cy="822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540228" y="1467612"/>
            <a:ext cx="61722" cy="61722"/>
            <a:chOff x="0" y="0"/>
            <a:chExt cx="82296" cy="822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896844" y="1467612"/>
            <a:ext cx="61722" cy="61722"/>
            <a:chOff x="0" y="0"/>
            <a:chExt cx="82296" cy="822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253460" y="1467612"/>
            <a:ext cx="61722" cy="61722"/>
            <a:chOff x="0" y="0"/>
            <a:chExt cx="82296" cy="822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610076" y="1467612"/>
            <a:ext cx="61722" cy="61722"/>
            <a:chOff x="0" y="0"/>
            <a:chExt cx="82296" cy="822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6966692" y="1467612"/>
            <a:ext cx="61722" cy="61722"/>
            <a:chOff x="0" y="0"/>
            <a:chExt cx="82296" cy="822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7323308" y="1467612"/>
            <a:ext cx="61722" cy="61722"/>
            <a:chOff x="0" y="0"/>
            <a:chExt cx="82296" cy="822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4470380" y="1824228"/>
            <a:ext cx="61722" cy="61722"/>
            <a:chOff x="0" y="0"/>
            <a:chExt cx="82296" cy="822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826996" y="1824228"/>
            <a:ext cx="61722" cy="61722"/>
            <a:chOff x="0" y="0"/>
            <a:chExt cx="82296" cy="822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5183612" y="1824228"/>
            <a:ext cx="61722" cy="61722"/>
            <a:chOff x="0" y="0"/>
            <a:chExt cx="82296" cy="822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5540228" y="1824228"/>
            <a:ext cx="61722" cy="61722"/>
            <a:chOff x="0" y="0"/>
            <a:chExt cx="82296" cy="822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896844" y="1824228"/>
            <a:ext cx="61722" cy="61722"/>
            <a:chOff x="0" y="0"/>
            <a:chExt cx="82296" cy="822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6253460" y="1824228"/>
            <a:ext cx="61722" cy="61722"/>
            <a:chOff x="0" y="0"/>
            <a:chExt cx="82296" cy="822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6610076" y="1824228"/>
            <a:ext cx="61722" cy="61722"/>
            <a:chOff x="0" y="0"/>
            <a:chExt cx="82296" cy="8229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966692" y="1824228"/>
            <a:ext cx="61722" cy="61722"/>
            <a:chOff x="0" y="0"/>
            <a:chExt cx="82296" cy="822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7323308" y="1824228"/>
            <a:ext cx="61722" cy="61722"/>
            <a:chOff x="0" y="0"/>
            <a:chExt cx="82296" cy="8229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4470380" y="2180844"/>
            <a:ext cx="61722" cy="61722"/>
            <a:chOff x="0" y="0"/>
            <a:chExt cx="82296" cy="822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4826996" y="2180844"/>
            <a:ext cx="61722" cy="61722"/>
            <a:chOff x="0" y="0"/>
            <a:chExt cx="82296" cy="822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5183612" y="2180844"/>
            <a:ext cx="61722" cy="61722"/>
            <a:chOff x="0" y="0"/>
            <a:chExt cx="82296" cy="8229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5540228" y="2180844"/>
            <a:ext cx="61722" cy="61722"/>
            <a:chOff x="0" y="0"/>
            <a:chExt cx="82296" cy="822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5896844" y="2180844"/>
            <a:ext cx="61722" cy="61722"/>
            <a:chOff x="0" y="0"/>
            <a:chExt cx="82296" cy="8229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6253460" y="2180844"/>
            <a:ext cx="61722" cy="61722"/>
            <a:chOff x="0" y="0"/>
            <a:chExt cx="82296" cy="8229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6610076" y="2180844"/>
            <a:ext cx="61722" cy="61722"/>
            <a:chOff x="0" y="0"/>
            <a:chExt cx="82296" cy="8229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6966692" y="2180844"/>
            <a:ext cx="61722" cy="61722"/>
            <a:chOff x="0" y="0"/>
            <a:chExt cx="82296" cy="8229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7323308" y="2180844"/>
            <a:ext cx="61722" cy="61722"/>
            <a:chOff x="0" y="0"/>
            <a:chExt cx="82296" cy="8229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4470380" y="2537460"/>
            <a:ext cx="61722" cy="61722"/>
            <a:chOff x="0" y="0"/>
            <a:chExt cx="82296" cy="8229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4826996" y="2537460"/>
            <a:ext cx="61722" cy="61722"/>
            <a:chOff x="0" y="0"/>
            <a:chExt cx="82296" cy="8229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5183612" y="2537460"/>
            <a:ext cx="61722" cy="61722"/>
            <a:chOff x="0" y="0"/>
            <a:chExt cx="82296" cy="8229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5540228" y="2537460"/>
            <a:ext cx="61722" cy="61722"/>
            <a:chOff x="0" y="0"/>
            <a:chExt cx="82296" cy="8229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5896844" y="2537460"/>
            <a:ext cx="61722" cy="61722"/>
            <a:chOff x="0" y="0"/>
            <a:chExt cx="82296" cy="8229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6253460" y="2537460"/>
            <a:ext cx="61722" cy="61722"/>
            <a:chOff x="0" y="0"/>
            <a:chExt cx="82296" cy="8229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6610076" y="2537460"/>
            <a:ext cx="61722" cy="61722"/>
            <a:chOff x="0" y="0"/>
            <a:chExt cx="82296" cy="8229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6966692" y="2537460"/>
            <a:ext cx="61722" cy="61722"/>
            <a:chOff x="0" y="0"/>
            <a:chExt cx="82296" cy="8229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7323308" y="2537460"/>
            <a:ext cx="61722" cy="61722"/>
            <a:chOff x="0" y="0"/>
            <a:chExt cx="82296" cy="8229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2296" cy="82296"/>
            </a:xfrm>
            <a:custGeom>
              <a:avLst/>
              <a:gdLst/>
              <a:ahLst/>
              <a:cxnLst/>
              <a:rect r="r" b="b" t="t" l="l"/>
              <a:pathLst>
                <a:path h="82296" w="82296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296" y="18415"/>
                    <a:pt x="82296" y="41148"/>
                  </a:cubicBezTo>
                  <a:cubicBezTo>
                    <a:pt x="82296" y="63881"/>
                    <a:pt x="63881" y="82296"/>
                    <a:pt x="41148" y="82296"/>
                  </a:cubicBezTo>
                  <a:cubicBezTo>
                    <a:pt x="18415" y="82296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B78FD6">
                <a:alpha val="30196"/>
              </a:srgbClr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60120" y="822960"/>
            <a:ext cx="10972800" cy="480060"/>
            <a:chOff x="0" y="0"/>
            <a:chExt cx="14630400" cy="6400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146304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5EB09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DATA STRUCTURES AND ALGORITHMS – 3   |   25CS2103E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60120" y="3497580"/>
            <a:ext cx="123444" cy="2057400"/>
            <a:chOff x="0" y="0"/>
            <a:chExt cx="164592" cy="27432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64592" cy="2743200"/>
            </a:xfrm>
            <a:custGeom>
              <a:avLst/>
              <a:gdLst/>
              <a:ahLst/>
              <a:cxnLst/>
              <a:rect r="r" b="b" t="t" l="l"/>
              <a:pathLst>
                <a:path h="274320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EAB2BB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440180" y="3223260"/>
            <a:ext cx="13030200" cy="1394520"/>
            <a:chOff x="0" y="0"/>
            <a:chExt cx="17373600" cy="185935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7373600" cy="1859359"/>
            </a:xfrm>
            <a:custGeom>
              <a:avLst/>
              <a:gdLst/>
              <a:ahLst/>
              <a:cxnLst/>
              <a:rect r="r" b="b" t="t" l="l"/>
              <a:pathLst>
                <a:path h="1859359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859359"/>
                  </a:lnTo>
                  <a:lnTo>
                    <a:pt x="0" y="18593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346" r="0" b="-12878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85725"/>
              <a:ext cx="17373600" cy="1945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B78FD6"/>
                  </a:solidFill>
                  <a:latin typeface="Horizon"/>
                  <a:ea typeface="Horizon"/>
                  <a:cs typeface="Horizon"/>
                  <a:sym typeface="Horizon"/>
                </a:rPr>
                <a:t>MultiPattern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40180" y="4320540"/>
            <a:ext cx="13030200" cy="1394520"/>
            <a:chOff x="0" y="0"/>
            <a:chExt cx="17373600" cy="1859359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7373600" cy="1859359"/>
            </a:xfrm>
            <a:custGeom>
              <a:avLst/>
              <a:gdLst/>
              <a:ahLst/>
              <a:cxnLst/>
              <a:rect r="r" b="b" t="t" l="l"/>
              <a:pathLst>
                <a:path h="1859359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859359"/>
                  </a:lnTo>
                  <a:lnTo>
                    <a:pt x="0" y="18593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346" r="0" b="-12878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85725"/>
              <a:ext cx="17373600" cy="1945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B78FD6"/>
                  </a:solidFill>
                  <a:latin typeface="Horizon"/>
                  <a:ea typeface="Horizon"/>
                  <a:cs typeface="Horizon"/>
                  <a:sym typeface="Horizon"/>
                </a:rPr>
                <a:t>Scanner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440180" y="6100789"/>
            <a:ext cx="11795760" cy="1185417"/>
            <a:chOff x="0" y="0"/>
            <a:chExt cx="15727680" cy="158055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5727680" cy="1580555"/>
            </a:xfrm>
            <a:custGeom>
              <a:avLst/>
              <a:gdLst/>
              <a:ahLst/>
              <a:cxnLst/>
              <a:rect r="r" b="b" t="t" l="l"/>
              <a:pathLst>
                <a:path h="1580555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80555"/>
                  </a:lnTo>
                  <a:lnTo>
                    <a:pt x="0" y="1580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63" r="0" b="-122816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15727680" cy="158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b="true" sz="3099">
                  <a:solidFill>
                    <a:srgbClr val="3C6C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 multi-pattern search engine built on the Aho–Corasick algorithm</a:t>
              </a:r>
            </a:p>
          </p:txBody>
        </p:sp>
      </p:grpSp>
      <p:sp>
        <p:nvSpPr>
          <p:cNvPr name="AutoShape 130" id="130"/>
          <p:cNvSpPr/>
          <p:nvPr/>
        </p:nvSpPr>
        <p:spPr>
          <a:xfrm rot="66900">
            <a:off x="1448381" y="8288655"/>
            <a:ext cx="1958711" cy="0"/>
          </a:xfrm>
          <a:prstGeom prst="line">
            <a:avLst/>
          </a:prstGeom>
          <a:ln cap="rnd" w="19050">
            <a:solidFill>
              <a:srgbClr val="B78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1" id="131"/>
          <p:cNvGrpSpPr/>
          <p:nvPr/>
        </p:nvGrpSpPr>
        <p:grpSpPr>
          <a:xfrm rot="0">
            <a:off x="1467612" y="8476488"/>
            <a:ext cx="10287000" cy="1757309"/>
            <a:chOff x="0" y="0"/>
            <a:chExt cx="13716000" cy="234307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3716000" cy="2343079"/>
            </a:xfrm>
            <a:custGeom>
              <a:avLst/>
              <a:gdLst/>
              <a:ahLst/>
              <a:cxnLst/>
              <a:rect r="r" b="b" t="t" l="l"/>
              <a:pathLst>
                <a:path h="2343079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343079"/>
                  </a:lnTo>
                  <a:lnTo>
                    <a:pt x="0" y="23430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36" r="0" b="-53087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0"/>
              <a:ext cx="13716000" cy="2438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84"/>
                </a:lnSpc>
              </a:pPr>
              <a:r>
                <a:rPr lang="en-US" b="true" sz="2849" spc="28">
                  <a:solidFill>
                    <a:srgbClr val="3C6C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6   •   Section 3</a:t>
              </a:r>
            </a:p>
            <a:p>
              <a:pPr algn="l">
                <a:lnSpc>
                  <a:spcPts val="4499"/>
                </a:lnSpc>
              </a:pPr>
              <a:r>
                <a:rPr lang="en-US" b="true" sz="2699">
                  <a:solidFill>
                    <a:srgbClr val="3C6C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A.Y. 2026 – 2027</a:t>
              </a:r>
            </a:p>
            <a:p>
              <a:pPr algn="l">
                <a:lnSpc>
                  <a:spcPts val="4565"/>
                </a:lnSpc>
              </a:pPr>
              <a:r>
                <a:rPr lang="en-US" b="true" sz="2624">
                  <a:solidFill>
                    <a:srgbClr val="3C6C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2520030339 – M. Tanmayee   |   2520030329 – K. Devika</a:t>
              </a:r>
            </a:p>
          </p:txBody>
        </p:sp>
      </p:grpSp>
      <p:sp>
        <p:nvSpPr>
          <p:cNvPr name="Freeform 134" id="134"/>
          <p:cNvSpPr/>
          <p:nvPr/>
        </p:nvSpPr>
        <p:spPr>
          <a:xfrm flipH="false" flipV="false" rot="0">
            <a:off x="9510382" y="523952"/>
            <a:ext cx="7748918" cy="2723996"/>
          </a:xfrm>
          <a:custGeom>
            <a:avLst/>
            <a:gdLst/>
            <a:ahLst/>
            <a:cxnLst/>
            <a:rect r="r" b="b" t="t" l="l"/>
            <a:pathLst>
              <a:path h="2723996" w="7748918">
                <a:moveTo>
                  <a:pt x="0" y="0"/>
                </a:moveTo>
                <a:lnTo>
                  <a:pt x="7748918" y="0"/>
                </a:lnTo>
                <a:lnTo>
                  <a:pt x="7748918" y="2723996"/>
                </a:lnTo>
                <a:lnTo>
                  <a:pt x="0" y="2723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679" r="0" b="-1267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47720" y="685800"/>
            <a:ext cx="1645920" cy="1234440"/>
            <a:chOff x="0" y="0"/>
            <a:chExt cx="2194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200"/>
                </a:lnSpc>
              </a:pPr>
              <a:r>
                <a:rPr lang="en-US" sz="6000">
                  <a:solidFill>
                    <a:srgbClr val="577EB2"/>
                  </a:solidFill>
                  <a:latin typeface="EFCO Brookshire"/>
                  <a:ea typeface="EFCO Brookshire"/>
                  <a:cs typeface="EFCO Brookshire"/>
                  <a:sym typeface="EFCO Brookshire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754380"/>
            <a:ext cx="9601200" cy="997639"/>
            <a:chOff x="0" y="0"/>
            <a:chExt cx="12801600" cy="1330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1600" cy="1330185"/>
            </a:xfrm>
            <a:custGeom>
              <a:avLst/>
              <a:gdLst/>
              <a:ahLst/>
              <a:cxnLst/>
              <a:rect r="r" b="b" t="t" l="l"/>
              <a:pathLst>
                <a:path h="1330185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330185"/>
                  </a:lnTo>
                  <a:lnTo>
                    <a:pt x="0" y="13301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277" r="0" b="-12876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801600" cy="1330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>
                  <a:solidFill>
                    <a:srgbClr val="577EB2"/>
                  </a:solidFill>
                  <a:latin typeface="EFCO Brookshire"/>
                  <a:ea typeface="EFCO Brookshire"/>
                  <a:cs typeface="EFCO Brookshire"/>
                  <a:sym typeface="EFCO Brookshire"/>
                </a:rPr>
                <a:t>Abstract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536192"/>
            <a:ext cx="9601200" cy="572046"/>
            <a:chOff x="0" y="0"/>
            <a:chExt cx="12801600" cy="762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00" cy="762728"/>
            </a:xfrm>
            <a:custGeom>
              <a:avLst/>
              <a:gdLst/>
              <a:ahLst/>
              <a:cxnLst/>
              <a:rect r="r" b="b" t="t" l="l"/>
              <a:pathLst>
                <a:path h="762728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762728"/>
                  </a:lnTo>
                  <a:lnTo>
                    <a:pt x="0" y="7627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082" r="0" b="-27499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801600" cy="762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9"/>
                </a:lnSpc>
              </a:pPr>
              <a:r>
                <a:rPr lang="en-US" sz="3224">
                  <a:solidFill>
                    <a:srgbClr val="577EB2"/>
                  </a:solidFill>
                  <a:latin typeface="EFCO Brookshire"/>
                  <a:ea typeface="EFCO Brookshire"/>
                  <a:cs typeface="EFCO Brookshire"/>
                  <a:sym typeface="EFCO Brookshire"/>
                </a:rPr>
                <a:t>What the project sets out to do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7552" y="2660904"/>
            <a:ext cx="123444" cy="123444"/>
            <a:chOff x="0" y="0"/>
            <a:chExt cx="164592" cy="164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77EB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35608" y="2443734"/>
            <a:ext cx="8801100" cy="147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6"/>
              </a:lnSpc>
            </a:pPr>
            <a:r>
              <a:rPr lang="en-US" sz="2849">
                <a:solidFill>
                  <a:srgbClr val="577EB2"/>
                </a:solidFill>
                <a:latin typeface="Amaranth"/>
                <a:ea typeface="Amaranth"/>
                <a:cs typeface="Amaranth"/>
                <a:sym typeface="Amaranth"/>
              </a:rPr>
              <a:t>MultiPattern Scanner is a search engine that looks for many keywords in a body of text at the same time, rather than one at a time.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7552" y="4238244"/>
            <a:ext cx="123444" cy="123444"/>
            <a:chOff x="0" y="0"/>
            <a:chExt cx="164592" cy="164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40889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35608" y="4021074"/>
            <a:ext cx="8801100" cy="204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4"/>
              </a:lnSpc>
            </a:pPr>
            <a:r>
              <a:rPr lang="en-US" sz="2949">
                <a:solidFill>
                  <a:srgbClr val="577EB2"/>
                </a:solidFill>
                <a:latin typeface="Amaranth"/>
                <a:ea typeface="Amaranth"/>
                <a:cs typeface="Amaranth"/>
                <a:sym typeface="Amaranth"/>
              </a:rPr>
              <a:t>It relies on the Aho–Corasick algorithm, which builds a Trie of all the patterns and links it up with failure links so scanning stays fast even as the pattern list grows.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7552" y="6364224"/>
            <a:ext cx="123444" cy="123444"/>
            <a:chOff x="0" y="0"/>
            <a:chExt cx="164592" cy="164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40889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35608" y="6156579"/>
            <a:ext cx="8801100" cy="1814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9"/>
              </a:lnSpc>
            </a:pPr>
            <a:r>
              <a:rPr lang="en-US" sz="2649">
                <a:solidFill>
                  <a:srgbClr val="577EB2"/>
                </a:solidFill>
                <a:latin typeface="Amaranth"/>
                <a:ea typeface="Amaranth"/>
                <a:cs typeface="Amaranth"/>
                <a:sym typeface="Amaranth"/>
              </a:rPr>
              <a:t>In one pass over the text, the system finds every match, reports which keyword was found and exactly where, and demonstrates how Tries, Queues, and BFS come together to solve a real string-matching problem.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26115" y="2185035"/>
            <a:ext cx="6534150" cy="7357110"/>
            <a:chOff x="0" y="0"/>
            <a:chExt cx="8712200" cy="9809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12200" cy="9809480"/>
            </a:xfrm>
            <a:custGeom>
              <a:avLst/>
              <a:gdLst/>
              <a:ahLst/>
              <a:cxnLst/>
              <a:rect r="r" b="b" t="t" l="l"/>
              <a:pathLst>
                <a:path h="9809480" w="871220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8492109" y="0"/>
                  </a:lnTo>
                  <a:cubicBezTo>
                    <a:pt x="8613648" y="0"/>
                    <a:pt x="8712200" y="98552"/>
                    <a:pt x="8712200" y="220091"/>
                  </a:cubicBezTo>
                  <a:lnTo>
                    <a:pt x="8712200" y="9589389"/>
                  </a:lnTo>
                  <a:cubicBezTo>
                    <a:pt x="8712200" y="9710928"/>
                    <a:pt x="8613648" y="9809480"/>
                    <a:pt x="8492109" y="9809480"/>
                  </a:cubicBezTo>
                  <a:lnTo>
                    <a:pt x="220091" y="9809480"/>
                  </a:lnTo>
                  <a:cubicBezTo>
                    <a:pt x="98552" y="9809480"/>
                    <a:pt x="0" y="9710928"/>
                    <a:pt x="0" y="9589389"/>
                  </a:cubicBezTo>
                  <a:close/>
                </a:path>
              </a:pathLst>
            </a:custGeom>
            <a:solidFill>
              <a:srgbClr val="408892"/>
            </a:solidFill>
            <a:ln w="19050" cap="sq">
              <a:solidFill>
                <a:srgbClr val="E3E8E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247120" y="2496312"/>
            <a:ext cx="5692140" cy="480060"/>
            <a:chOff x="0" y="0"/>
            <a:chExt cx="758952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89520" cy="640080"/>
            </a:xfrm>
            <a:custGeom>
              <a:avLst/>
              <a:gdLst/>
              <a:ahLst/>
              <a:cxnLst/>
              <a:rect r="r" b="b" t="t" l="l"/>
              <a:pathLst>
                <a:path h="64008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758952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9DADA"/>
                  </a:solidFill>
                  <a:latin typeface="Amaranth"/>
                  <a:ea typeface="Amaranth"/>
                  <a:cs typeface="Amaranth"/>
                  <a:sym typeface="Amaranth"/>
                </a:rPr>
                <a:t>HOW IT WORKS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-2113440">
            <a:off x="11902126" y="4448175"/>
            <a:ext cx="2427589" cy="0"/>
          </a:xfrm>
          <a:prstGeom prst="line">
            <a:avLst/>
          </a:prstGeom>
          <a:ln cap="rnd" w="19050">
            <a:solidFill>
              <a:srgbClr val="D9D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-3984420">
            <a:off x="13037782" y="4448175"/>
            <a:ext cx="1527886" cy="0"/>
          </a:xfrm>
          <a:prstGeom prst="line">
            <a:avLst/>
          </a:prstGeom>
          <a:ln cap="rnd" w="19050">
            <a:solidFill>
              <a:srgbClr val="D9D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3583740">
            <a:off x="13676909" y="4448175"/>
            <a:ext cx="1621231" cy="0"/>
          </a:xfrm>
          <a:prstGeom prst="line">
            <a:avLst/>
          </a:prstGeom>
          <a:ln cap="rnd" w="19050">
            <a:solidFill>
              <a:srgbClr val="D9D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2058719">
            <a:off x="13862780" y="4448175"/>
            <a:ext cx="2483929" cy="0"/>
          </a:xfrm>
          <a:prstGeom prst="line">
            <a:avLst/>
          </a:prstGeom>
          <a:ln cap="rnd" w="19050">
            <a:solidFill>
              <a:srgbClr val="D9D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5329860">
            <a:off x="11438430" y="5819775"/>
            <a:ext cx="1400470" cy="0"/>
          </a:xfrm>
          <a:prstGeom prst="line">
            <a:avLst/>
          </a:prstGeom>
          <a:ln cap="rnd" w="19050">
            <a:solidFill>
              <a:srgbClr val="D9D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5329860">
            <a:off x="12810030" y="5819775"/>
            <a:ext cx="1400470" cy="0"/>
          </a:xfrm>
          <a:prstGeom prst="line">
            <a:avLst/>
          </a:prstGeom>
          <a:ln cap="rnd" w="19050">
            <a:solidFill>
              <a:srgbClr val="D9DA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3777150" y="3455860"/>
            <a:ext cx="632079" cy="632079"/>
            <a:chOff x="0" y="0"/>
            <a:chExt cx="842772" cy="8427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2772" cy="842772"/>
            </a:xfrm>
            <a:custGeom>
              <a:avLst/>
              <a:gdLst/>
              <a:ahLst/>
              <a:cxnLst/>
              <a:rect r="r" b="b" t="t" l="l"/>
              <a:pathLst>
                <a:path h="842772" w="842772">
                  <a:moveTo>
                    <a:pt x="0" y="421386"/>
                  </a:moveTo>
                  <a:cubicBezTo>
                    <a:pt x="0" y="188722"/>
                    <a:pt x="188722" y="0"/>
                    <a:pt x="421386" y="0"/>
                  </a:cubicBezTo>
                  <a:cubicBezTo>
                    <a:pt x="654050" y="0"/>
                    <a:pt x="842772" y="188722"/>
                    <a:pt x="842772" y="421386"/>
                  </a:cubicBezTo>
                  <a:cubicBezTo>
                    <a:pt x="842772" y="654050"/>
                    <a:pt x="654050" y="842772"/>
                    <a:pt x="421386" y="842772"/>
                  </a:cubicBezTo>
                  <a:cubicBezTo>
                    <a:pt x="188722" y="842772"/>
                    <a:pt x="0" y="654050"/>
                    <a:pt x="0" y="421386"/>
                  </a:cubicBezTo>
                  <a:close/>
                </a:path>
              </a:pathLst>
            </a:custGeom>
            <a:solidFill>
              <a:srgbClr val="D9DAD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791438" y="3442716"/>
            <a:ext cx="603504" cy="603504"/>
            <a:chOff x="0" y="0"/>
            <a:chExt cx="804672" cy="8046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04672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577EB2"/>
                  </a:solidFill>
                  <a:latin typeface="EFCO Brookshire"/>
                  <a:ea typeface="EFCO Brookshire"/>
                  <a:cs typeface="EFCO Brookshire"/>
                  <a:sym typeface="EFCO Brookshire"/>
                </a:rPr>
                <a:t>•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22620" y="4827460"/>
            <a:ext cx="632079" cy="632079"/>
            <a:chOff x="0" y="0"/>
            <a:chExt cx="842772" cy="8427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42772" cy="842772"/>
            </a:xfrm>
            <a:custGeom>
              <a:avLst/>
              <a:gdLst/>
              <a:ahLst/>
              <a:cxnLst/>
              <a:rect r="r" b="b" t="t" l="l"/>
              <a:pathLst>
                <a:path h="842772" w="842772">
                  <a:moveTo>
                    <a:pt x="0" y="421386"/>
                  </a:moveTo>
                  <a:cubicBezTo>
                    <a:pt x="0" y="188722"/>
                    <a:pt x="188722" y="0"/>
                    <a:pt x="421386" y="0"/>
                  </a:cubicBezTo>
                  <a:cubicBezTo>
                    <a:pt x="654050" y="0"/>
                    <a:pt x="842772" y="188722"/>
                    <a:pt x="842772" y="421386"/>
                  </a:cubicBezTo>
                  <a:cubicBezTo>
                    <a:pt x="842772" y="654050"/>
                    <a:pt x="654050" y="842772"/>
                    <a:pt x="421386" y="842772"/>
                  </a:cubicBezTo>
                  <a:cubicBezTo>
                    <a:pt x="188722" y="842772"/>
                    <a:pt x="0" y="654050"/>
                    <a:pt x="0" y="421386"/>
                  </a:cubicBezTo>
                  <a:close/>
                </a:path>
              </a:pathLst>
            </a:custGeom>
            <a:solidFill>
              <a:srgbClr val="D9DAD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836908" y="4841748"/>
            <a:ext cx="603504" cy="603504"/>
            <a:chOff x="0" y="0"/>
            <a:chExt cx="804672" cy="8046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77EB2"/>
                  </a:solidFill>
                  <a:latin typeface="Amaranth"/>
                  <a:ea typeface="Amaranth"/>
                  <a:cs typeface="Amaranth"/>
                  <a:sym typeface="Amaranth"/>
                </a:rPr>
                <a:t>h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194220" y="4827460"/>
            <a:ext cx="632079" cy="632079"/>
            <a:chOff x="0" y="0"/>
            <a:chExt cx="842772" cy="8427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42772" cy="842772"/>
            </a:xfrm>
            <a:custGeom>
              <a:avLst/>
              <a:gdLst/>
              <a:ahLst/>
              <a:cxnLst/>
              <a:rect r="r" b="b" t="t" l="l"/>
              <a:pathLst>
                <a:path h="842772" w="842772">
                  <a:moveTo>
                    <a:pt x="0" y="421386"/>
                  </a:moveTo>
                  <a:cubicBezTo>
                    <a:pt x="0" y="188722"/>
                    <a:pt x="188722" y="0"/>
                    <a:pt x="421386" y="0"/>
                  </a:cubicBezTo>
                  <a:cubicBezTo>
                    <a:pt x="654050" y="0"/>
                    <a:pt x="842772" y="188722"/>
                    <a:pt x="842772" y="421386"/>
                  </a:cubicBezTo>
                  <a:cubicBezTo>
                    <a:pt x="842772" y="654050"/>
                    <a:pt x="654050" y="842772"/>
                    <a:pt x="421386" y="842772"/>
                  </a:cubicBezTo>
                  <a:cubicBezTo>
                    <a:pt x="188722" y="842772"/>
                    <a:pt x="0" y="654050"/>
                    <a:pt x="0" y="421386"/>
                  </a:cubicBezTo>
                  <a:close/>
                </a:path>
              </a:pathLst>
            </a:custGeom>
            <a:solidFill>
              <a:srgbClr val="D9DAD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3208508" y="4841748"/>
            <a:ext cx="603504" cy="603504"/>
            <a:chOff x="0" y="0"/>
            <a:chExt cx="804672" cy="8046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77EB2"/>
                  </a:solidFill>
                  <a:latin typeface="Amaranth"/>
                  <a:ea typeface="Amaranth"/>
                  <a:cs typeface="Amaranth"/>
                  <a:sym typeface="Amaranth"/>
                </a:rPr>
                <a:t>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565820" y="4827460"/>
            <a:ext cx="632079" cy="632079"/>
            <a:chOff x="0" y="0"/>
            <a:chExt cx="842772" cy="8427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42772" cy="842772"/>
            </a:xfrm>
            <a:custGeom>
              <a:avLst/>
              <a:gdLst/>
              <a:ahLst/>
              <a:cxnLst/>
              <a:rect r="r" b="b" t="t" l="l"/>
              <a:pathLst>
                <a:path h="842772" w="842772">
                  <a:moveTo>
                    <a:pt x="0" y="421386"/>
                  </a:moveTo>
                  <a:cubicBezTo>
                    <a:pt x="0" y="188722"/>
                    <a:pt x="188722" y="0"/>
                    <a:pt x="421386" y="0"/>
                  </a:cubicBezTo>
                  <a:cubicBezTo>
                    <a:pt x="654050" y="0"/>
                    <a:pt x="842772" y="188722"/>
                    <a:pt x="842772" y="421386"/>
                  </a:cubicBezTo>
                  <a:cubicBezTo>
                    <a:pt x="842772" y="654050"/>
                    <a:pt x="654050" y="842772"/>
                    <a:pt x="421386" y="842772"/>
                  </a:cubicBezTo>
                  <a:cubicBezTo>
                    <a:pt x="188722" y="842772"/>
                    <a:pt x="0" y="654050"/>
                    <a:pt x="0" y="421386"/>
                  </a:cubicBezTo>
                  <a:close/>
                </a:path>
              </a:pathLst>
            </a:custGeom>
            <a:solidFill>
              <a:srgbClr val="D9DAD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580108" y="4841748"/>
            <a:ext cx="603504" cy="603504"/>
            <a:chOff x="0" y="0"/>
            <a:chExt cx="804672" cy="8046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77EB2"/>
                  </a:solidFill>
                  <a:latin typeface="Amaranth"/>
                  <a:ea typeface="Amaranth"/>
                  <a:cs typeface="Amaranth"/>
                  <a:sym typeface="Amaranth"/>
                </a:rPr>
                <a:t>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800260" y="4827460"/>
            <a:ext cx="632079" cy="632079"/>
            <a:chOff x="0" y="0"/>
            <a:chExt cx="842772" cy="8427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42772" cy="842772"/>
            </a:xfrm>
            <a:custGeom>
              <a:avLst/>
              <a:gdLst/>
              <a:ahLst/>
              <a:cxnLst/>
              <a:rect r="r" b="b" t="t" l="l"/>
              <a:pathLst>
                <a:path h="842772" w="842772">
                  <a:moveTo>
                    <a:pt x="0" y="421386"/>
                  </a:moveTo>
                  <a:cubicBezTo>
                    <a:pt x="0" y="188722"/>
                    <a:pt x="188722" y="0"/>
                    <a:pt x="421386" y="0"/>
                  </a:cubicBezTo>
                  <a:cubicBezTo>
                    <a:pt x="654050" y="0"/>
                    <a:pt x="842772" y="188722"/>
                    <a:pt x="842772" y="421386"/>
                  </a:cubicBezTo>
                  <a:cubicBezTo>
                    <a:pt x="842772" y="654050"/>
                    <a:pt x="654050" y="842772"/>
                    <a:pt x="421386" y="842772"/>
                  </a:cubicBezTo>
                  <a:cubicBezTo>
                    <a:pt x="188722" y="842772"/>
                    <a:pt x="0" y="654050"/>
                    <a:pt x="0" y="421386"/>
                  </a:cubicBezTo>
                  <a:close/>
                </a:path>
              </a:pathLst>
            </a:custGeom>
            <a:solidFill>
              <a:srgbClr val="D9DAD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5814548" y="4841748"/>
            <a:ext cx="603504" cy="603504"/>
            <a:chOff x="0" y="0"/>
            <a:chExt cx="804672" cy="8046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77EB2"/>
                  </a:solidFill>
                  <a:latin typeface="Amaranth"/>
                  <a:ea typeface="Amaranth"/>
                  <a:cs typeface="Amaranth"/>
                  <a:sym typeface="Amaranth"/>
                </a:rPr>
                <a:t>c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822620" y="6199060"/>
            <a:ext cx="632079" cy="632079"/>
            <a:chOff x="0" y="0"/>
            <a:chExt cx="842772" cy="8427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42772" cy="842772"/>
            </a:xfrm>
            <a:custGeom>
              <a:avLst/>
              <a:gdLst/>
              <a:ahLst/>
              <a:cxnLst/>
              <a:rect r="r" b="b" t="t" l="l"/>
              <a:pathLst>
                <a:path h="842772" w="842772">
                  <a:moveTo>
                    <a:pt x="0" y="421386"/>
                  </a:moveTo>
                  <a:cubicBezTo>
                    <a:pt x="0" y="188722"/>
                    <a:pt x="188722" y="0"/>
                    <a:pt x="421386" y="0"/>
                  </a:cubicBezTo>
                  <a:cubicBezTo>
                    <a:pt x="654050" y="0"/>
                    <a:pt x="842772" y="188722"/>
                    <a:pt x="842772" y="421386"/>
                  </a:cubicBezTo>
                  <a:cubicBezTo>
                    <a:pt x="842772" y="654050"/>
                    <a:pt x="654050" y="842772"/>
                    <a:pt x="421386" y="842772"/>
                  </a:cubicBezTo>
                  <a:cubicBezTo>
                    <a:pt x="188722" y="842772"/>
                    <a:pt x="0" y="654050"/>
                    <a:pt x="0" y="421386"/>
                  </a:cubicBezTo>
                  <a:close/>
                </a:path>
              </a:pathLst>
            </a:custGeom>
            <a:solidFill>
              <a:srgbClr val="D9DAD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1836908" y="6213348"/>
            <a:ext cx="603504" cy="603504"/>
            <a:chOff x="0" y="0"/>
            <a:chExt cx="804672" cy="8046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77EB2"/>
                  </a:solidFill>
                  <a:latin typeface="Amaranth"/>
                  <a:ea typeface="Amaranth"/>
                  <a:cs typeface="Amaranth"/>
                  <a:sym typeface="Amaranth"/>
                </a:rPr>
                <a:t>he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194220" y="6199060"/>
            <a:ext cx="632079" cy="632079"/>
            <a:chOff x="0" y="0"/>
            <a:chExt cx="842772" cy="84277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42772" cy="842772"/>
            </a:xfrm>
            <a:custGeom>
              <a:avLst/>
              <a:gdLst/>
              <a:ahLst/>
              <a:cxnLst/>
              <a:rect r="r" b="b" t="t" l="l"/>
              <a:pathLst>
                <a:path h="842772" w="842772">
                  <a:moveTo>
                    <a:pt x="0" y="421386"/>
                  </a:moveTo>
                  <a:cubicBezTo>
                    <a:pt x="0" y="188722"/>
                    <a:pt x="188722" y="0"/>
                    <a:pt x="421386" y="0"/>
                  </a:cubicBezTo>
                  <a:cubicBezTo>
                    <a:pt x="654050" y="0"/>
                    <a:pt x="842772" y="188722"/>
                    <a:pt x="842772" y="421386"/>
                  </a:cubicBezTo>
                  <a:cubicBezTo>
                    <a:pt x="842772" y="654050"/>
                    <a:pt x="654050" y="842772"/>
                    <a:pt x="421386" y="842772"/>
                  </a:cubicBezTo>
                  <a:cubicBezTo>
                    <a:pt x="188722" y="842772"/>
                    <a:pt x="0" y="654050"/>
                    <a:pt x="0" y="421386"/>
                  </a:cubicBezTo>
                  <a:close/>
                </a:path>
              </a:pathLst>
            </a:custGeom>
            <a:solidFill>
              <a:srgbClr val="D9DAD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3208508" y="6213348"/>
            <a:ext cx="603504" cy="603504"/>
            <a:chOff x="0" y="0"/>
            <a:chExt cx="804672" cy="8046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77EB2"/>
                  </a:solidFill>
                  <a:latin typeface="Amaranth"/>
                  <a:ea typeface="Amaranth"/>
                  <a:cs typeface="Amaranth"/>
                  <a:sym typeface="Amaranth"/>
                </a:rPr>
                <a:t>sh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247120" y="8778240"/>
            <a:ext cx="5692140" cy="480060"/>
            <a:chOff x="0" y="0"/>
            <a:chExt cx="7589520" cy="640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89520" cy="640080"/>
            </a:xfrm>
            <a:custGeom>
              <a:avLst/>
              <a:gdLst/>
              <a:ahLst/>
              <a:cxnLst/>
              <a:rect r="r" b="b" t="t" l="l"/>
              <a:pathLst>
                <a:path h="64008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758952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9DADA"/>
                  </a:solidFill>
                  <a:latin typeface="Amaranth"/>
                  <a:ea typeface="Amaranth"/>
                  <a:cs typeface="Amaranth"/>
                  <a:sym typeface="Amaranth"/>
                </a:rPr>
                <a:t>Solid = Trie edges     Dashed = failure link (BFS)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47720" y="685800"/>
            <a:ext cx="1645920" cy="1234440"/>
            <a:chOff x="0" y="0"/>
            <a:chExt cx="2194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200"/>
                </a:lnSpc>
              </a:pPr>
              <a:r>
                <a:rPr lang="en-US" b="true" sz="6000" spc="600">
                  <a:solidFill>
                    <a:srgbClr val="372A2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754380"/>
            <a:ext cx="10287000" cy="898525"/>
            <a:chOff x="0" y="0"/>
            <a:chExt cx="13716000" cy="11980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0" cy="1198033"/>
            </a:xfrm>
            <a:custGeom>
              <a:avLst/>
              <a:gdLst/>
              <a:ahLst/>
              <a:cxnLst/>
              <a:rect r="r" b="b" t="t" l="l"/>
              <a:pathLst>
                <a:path h="1198033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198033"/>
                  </a:lnTo>
                  <a:lnTo>
                    <a:pt x="0" y="1198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284" r="0" b="-16887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3716000" cy="1188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79"/>
                </a:lnSpc>
              </a:pPr>
              <a:r>
                <a:rPr lang="en-US" sz="4899" spc="-97">
                  <a:solidFill>
                    <a:srgbClr val="946C0A"/>
                  </a:solidFill>
                  <a:latin typeface="Arbutus Slab"/>
                  <a:ea typeface="Arbutus Slab"/>
                  <a:cs typeface="Arbutus Slab"/>
                  <a:sym typeface="Arbutus Slab"/>
                </a:rPr>
                <a:t>Problem Statement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536192"/>
            <a:ext cx="10287000" cy="548640"/>
            <a:chOff x="0" y="0"/>
            <a:chExt cx="137160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3716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b="true" sz="2424" spc="242">
                  <a:solidFill>
                    <a:srgbClr val="372A2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Searching for many keywords one at a time doesn't scale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6225" y="2225072"/>
            <a:ext cx="10765155" cy="2037556"/>
            <a:chOff x="0" y="0"/>
            <a:chExt cx="14353540" cy="27167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53539" cy="2716742"/>
            </a:xfrm>
            <a:custGeom>
              <a:avLst/>
              <a:gdLst/>
              <a:ahLst/>
              <a:cxnLst/>
              <a:rect r="r" b="b" t="t" l="l"/>
              <a:pathLst>
                <a:path h="2716742" w="14353539">
                  <a:moveTo>
                    <a:pt x="0" y="0"/>
                  </a:moveTo>
                  <a:lnTo>
                    <a:pt x="14353539" y="0"/>
                  </a:lnTo>
                  <a:lnTo>
                    <a:pt x="14353539" y="2716742"/>
                  </a:lnTo>
                  <a:lnTo>
                    <a:pt x="0" y="27167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797" r="12086" b="-292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353540" cy="2773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24"/>
                </a:lnSpc>
              </a:pPr>
              <a:r>
                <a:rPr lang="en-US" sz="2874">
                  <a:solidFill>
                    <a:srgbClr val="372A28"/>
                  </a:solidFill>
                  <a:latin typeface="Arbutus Slab"/>
                  <a:ea typeface="Arbutus Slab"/>
                  <a:cs typeface="Arbutus Slab"/>
                  <a:sym typeface="Arbutus Slab"/>
                </a:rPr>
                <a:t>Scanning a large text separately for every keyword means re-reading the same text again and again — the cost grows with every pattern added. MultiPattern Scanner is built to solve that. The system should be able to: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0120" y="8846820"/>
            <a:ext cx="356616" cy="356616"/>
            <a:chOff x="0" y="0"/>
            <a:chExt cx="475488" cy="4754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384048" y="0"/>
                  </a:lnTo>
                  <a:cubicBezTo>
                    <a:pt x="434594" y="0"/>
                    <a:pt x="475488" y="40894"/>
                    <a:pt x="475488" y="91440"/>
                  </a:cubicBezTo>
                  <a:lnTo>
                    <a:pt x="475488" y="384048"/>
                  </a:lnTo>
                  <a:cubicBezTo>
                    <a:pt x="475488" y="434594"/>
                    <a:pt x="434594" y="475488"/>
                    <a:pt x="384048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FCEC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" y="8788908"/>
            <a:ext cx="356616" cy="411480"/>
            <a:chOff x="0" y="0"/>
            <a:chExt cx="475488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5488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042" t="0" r="-9804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75488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372A2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✓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08760" y="8846820"/>
            <a:ext cx="8778240" cy="507206"/>
            <a:chOff x="0" y="0"/>
            <a:chExt cx="11704320" cy="6762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04320" cy="676274"/>
            </a:xfrm>
            <a:custGeom>
              <a:avLst/>
              <a:gdLst/>
              <a:ahLst/>
              <a:cxnLst/>
              <a:rect r="r" b="b" t="t" l="l"/>
              <a:pathLst>
                <a:path h="67627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676274"/>
                  </a:lnTo>
                  <a:lnTo>
                    <a:pt x="0" y="6762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848" r="0" b="-28860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1704320" cy="676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sz="2774">
                  <a:solidFill>
                    <a:srgbClr val="372A28"/>
                  </a:solidFill>
                  <a:latin typeface="Arbutus Slab"/>
                  <a:ea typeface="Arbutus Slab"/>
                  <a:cs typeface="Arbutus Slab"/>
                  <a:sym typeface="Arbutus Slab"/>
                </a:rPr>
                <a:t>Search for multiple patterns simultaneously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4951476"/>
            <a:ext cx="356616" cy="356616"/>
            <a:chOff x="0" y="0"/>
            <a:chExt cx="475488" cy="4754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384048" y="0"/>
                  </a:lnTo>
                  <a:cubicBezTo>
                    <a:pt x="434594" y="0"/>
                    <a:pt x="475488" y="40894"/>
                    <a:pt x="475488" y="91440"/>
                  </a:cubicBezTo>
                  <a:lnTo>
                    <a:pt x="475488" y="384048"/>
                  </a:lnTo>
                  <a:cubicBezTo>
                    <a:pt x="475488" y="434594"/>
                    <a:pt x="434594" y="475488"/>
                    <a:pt x="384048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FCEC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0120" y="4924044"/>
            <a:ext cx="356616" cy="411480"/>
            <a:chOff x="0" y="0"/>
            <a:chExt cx="475488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5488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042" t="0" r="-9804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75488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372A2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✓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08760" y="4869180"/>
            <a:ext cx="8778240" cy="521208"/>
            <a:chOff x="0" y="0"/>
            <a:chExt cx="11704320" cy="6949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04320" cy="694944"/>
            </a:xfrm>
            <a:custGeom>
              <a:avLst/>
              <a:gdLst/>
              <a:ahLst/>
              <a:cxnLst/>
              <a:rect r="r" b="b" t="t" l="l"/>
              <a:pathLst>
                <a:path h="69494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169" r="0" b="-27816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17043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9"/>
                </a:lnSpc>
              </a:pPr>
              <a:r>
                <a:rPr lang="en-US" sz="2674">
                  <a:solidFill>
                    <a:srgbClr val="372A28"/>
                  </a:solidFill>
                  <a:latin typeface="Arbutus Slab"/>
                  <a:ea typeface="Arbutus Slab"/>
                  <a:cs typeface="Arbutus Slab"/>
                  <a:sym typeface="Arbutus Slab"/>
                </a:rPr>
                <a:t>Efficiently process a given text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120" y="5719572"/>
            <a:ext cx="356616" cy="356616"/>
            <a:chOff x="0" y="0"/>
            <a:chExt cx="475488" cy="4754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384048" y="0"/>
                  </a:lnTo>
                  <a:cubicBezTo>
                    <a:pt x="434594" y="0"/>
                    <a:pt x="475488" y="40894"/>
                    <a:pt x="475488" y="91440"/>
                  </a:cubicBezTo>
                  <a:lnTo>
                    <a:pt x="475488" y="384048"/>
                  </a:lnTo>
                  <a:cubicBezTo>
                    <a:pt x="475488" y="434594"/>
                    <a:pt x="434594" y="475488"/>
                    <a:pt x="384048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FCEC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0120" y="5692140"/>
            <a:ext cx="356616" cy="411480"/>
            <a:chOff x="0" y="0"/>
            <a:chExt cx="475488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488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042" t="0" r="-9804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75488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372A2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08760" y="5637276"/>
            <a:ext cx="8778240" cy="521208"/>
            <a:chOff x="0" y="0"/>
            <a:chExt cx="11704320" cy="6949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704320" cy="694944"/>
            </a:xfrm>
            <a:custGeom>
              <a:avLst/>
              <a:gdLst/>
              <a:ahLst/>
              <a:cxnLst/>
              <a:rect r="r" b="b" t="t" l="l"/>
              <a:pathLst>
                <a:path h="69494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169" r="0" b="-27816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17043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9"/>
                </a:lnSpc>
              </a:pPr>
              <a:r>
                <a:rPr lang="en-US" sz="2574">
                  <a:solidFill>
                    <a:srgbClr val="372A28"/>
                  </a:solidFill>
                  <a:latin typeface="Arbutus Slab"/>
                  <a:ea typeface="Arbutus Slab"/>
                  <a:cs typeface="Arbutus Slab"/>
                  <a:sym typeface="Arbutus Slab"/>
                </a:rPr>
                <a:t>Identify every occurrence of the input patterns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0120" y="6487668"/>
            <a:ext cx="356616" cy="356616"/>
            <a:chOff x="0" y="0"/>
            <a:chExt cx="475488" cy="4754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384048" y="0"/>
                  </a:lnTo>
                  <a:cubicBezTo>
                    <a:pt x="434594" y="0"/>
                    <a:pt x="475488" y="40894"/>
                    <a:pt x="475488" y="91440"/>
                  </a:cubicBezTo>
                  <a:lnTo>
                    <a:pt x="475488" y="384048"/>
                  </a:lnTo>
                  <a:cubicBezTo>
                    <a:pt x="475488" y="434594"/>
                    <a:pt x="434594" y="475488"/>
                    <a:pt x="384048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FCEC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0120" y="6460236"/>
            <a:ext cx="356616" cy="411480"/>
            <a:chOff x="0" y="0"/>
            <a:chExt cx="475488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5488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042" t="0" r="-9804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75488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372A2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08760" y="6405372"/>
            <a:ext cx="8778240" cy="521208"/>
            <a:chOff x="0" y="0"/>
            <a:chExt cx="11704320" cy="6949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704320" cy="694944"/>
            </a:xfrm>
            <a:custGeom>
              <a:avLst/>
              <a:gdLst/>
              <a:ahLst/>
              <a:cxnLst/>
              <a:rect r="r" b="b" t="t" l="l"/>
              <a:pathLst>
                <a:path h="69494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169" r="0" b="-27816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170432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9"/>
                </a:lnSpc>
              </a:pPr>
              <a:r>
                <a:rPr lang="en-US" sz="2574">
                  <a:solidFill>
                    <a:srgbClr val="372A28"/>
                  </a:solidFill>
                  <a:latin typeface="Arbutus Slab"/>
                  <a:ea typeface="Arbutus Slab"/>
                  <a:cs typeface="Arbutus Slab"/>
                  <a:sym typeface="Arbutus Slab"/>
                </a:rPr>
                <a:t>Report the matched keywords and their positions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0120" y="7255764"/>
            <a:ext cx="356616" cy="356616"/>
            <a:chOff x="0" y="0"/>
            <a:chExt cx="475488" cy="4754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384048" y="0"/>
                  </a:lnTo>
                  <a:cubicBezTo>
                    <a:pt x="434594" y="0"/>
                    <a:pt x="475488" y="40894"/>
                    <a:pt x="475488" y="91440"/>
                  </a:cubicBezTo>
                  <a:lnTo>
                    <a:pt x="475488" y="384048"/>
                  </a:lnTo>
                  <a:cubicBezTo>
                    <a:pt x="475488" y="434594"/>
                    <a:pt x="434594" y="475488"/>
                    <a:pt x="384048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FCEC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60120" y="7228332"/>
            <a:ext cx="356616" cy="411480"/>
            <a:chOff x="0" y="0"/>
            <a:chExt cx="475488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5488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042" t="0" r="-98042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75488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372A2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✓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08760" y="7173468"/>
            <a:ext cx="8778240" cy="542130"/>
            <a:chOff x="0" y="0"/>
            <a:chExt cx="11704320" cy="72284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704320" cy="722841"/>
            </a:xfrm>
            <a:custGeom>
              <a:avLst/>
              <a:gdLst/>
              <a:ahLst/>
              <a:cxnLst/>
              <a:rect r="r" b="b" t="t" l="l"/>
              <a:pathLst>
                <a:path h="722841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22841"/>
                  </a:lnTo>
                  <a:lnTo>
                    <a:pt x="0" y="72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433" r="0" b="-26357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1704320" cy="72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9"/>
                </a:lnSpc>
              </a:pPr>
              <a:r>
                <a:rPr lang="en-US" sz="2974">
                  <a:solidFill>
                    <a:srgbClr val="372A28"/>
                  </a:solidFill>
                  <a:latin typeface="Arbutus Slab"/>
                  <a:ea typeface="Arbutus Slab"/>
                  <a:cs typeface="Arbutus Slab"/>
                  <a:sym typeface="Arbutus Slab"/>
                </a:rPr>
                <a:t>Handle a large number of patterns efficiently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0120" y="8023860"/>
            <a:ext cx="356616" cy="356616"/>
            <a:chOff x="0" y="0"/>
            <a:chExt cx="475488" cy="4754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384048" y="0"/>
                  </a:lnTo>
                  <a:cubicBezTo>
                    <a:pt x="434594" y="0"/>
                    <a:pt x="475488" y="40894"/>
                    <a:pt x="475488" y="91440"/>
                  </a:cubicBezTo>
                  <a:lnTo>
                    <a:pt x="475488" y="384048"/>
                  </a:lnTo>
                  <a:cubicBezTo>
                    <a:pt x="475488" y="434594"/>
                    <a:pt x="434594" y="475488"/>
                    <a:pt x="384048" y="475488"/>
                  </a:cubicBezTo>
                  <a:lnTo>
                    <a:pt x="91440" y="475488"/>
                  </a:lnTo>
                  <a:cubicBezTo>
                    <a:pt x="40894" y="475488"/>
                    <a:pt x="0" y="434594"/>
                    <a:pt x="0" y="384048"/>
                  </a:cubicBezTo>
                  <a:close/>
                </a:path>
              </a:pathLst>
            </a:custGeom>
            <a:solidFill>
              <a:srgbClr val="EFCEC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0120" y="7996428"/>
            <a:ext cx="356616" cy="411480"/>
            <a:chOff x="0" y="0"/>
            <a:chExt cx="475488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5488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042" t="0" r="-9804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475488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372A2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✓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08760" y="7941564"/>
            <a:ext cx="8778240" cy="577055"/>
            <a:chOff x="0" y="0"/>
            <a:chExt cx="11704320" cy="76940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704320" cy="769407"/>
            </a:xfrm>
            <a:custGeom>
              <a:avLst/>
              <a:gdLst/>
              <a:ahLst/>
              <a:cxnLst/>
              <a:rect r="r" b="b" t="t" l="l"/>
              <a:pathLst>
                <a:path h="769407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69407"/>
                  </a:lnTo>
                  <a:lnTo>
                    <a:pt x="0" y="7694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247" r="0" b="-24156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1704320" cy="76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9"/>
                </a:lnSpc>
              </a:pPr>
              <a:r>
                <a:rPr lang="en-US" sz="3174">
                  <a:solidFill>
                    <a:srgbClr val="372A28"/>
                  </a:solidFill>
                  <a:latin typeface="Arbutus Slab"/>
                  <a:ea typeface="Arbutus Slab"/>
                  <a:cs typeface="Arbutus Slab"/>
                  <a:sym typeface="Arbutus Slab"/>
                </a:rPr>
                <a:t>Support Unicode and multilingual text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041380" y="2400300"/>
            <a:ext cx="6309360" cy="7063740"/>
            <a:chOff x="0" y="0"/>
            <a:chExt cx="8412480" cy="94183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412480" cy="9418320"/>
            </a:xfrm>
            <a:custGeom>
              <a:avLst/>
              <a:gdLst/>
              <a:ahLst/>
              <a:cxnLst/>
              <a:rect r="r" b="b" t="t" l="l"/>
              <a:pathLst>
                <a:path h="9418320" w="8412480">
                  <a:moveTo>
                    <a:pt x="0" y="256032"/>
                  </a:moveTo>
                  <a:cubicBezTo>
                    <a:pt x="0" y="114554"/>
                    <a:pt x="114554" y="0"/>
                    <a:pt x="256032" y="0"/>
                  </a:cubicBezTo>
                  <a:lnTo>
                    <a:pt x="8156448" y="0"/>
                  </a:lnTo>
                  <a:cubicBezTo>
                    <a:pt x="8297799" y="0"/>
                    <a:pt x="8412480" y="114554"/>
                    <a:pt x="8412480" y="256032"/>
                  </a:cubicBezTo>
                  <a:lnTo>
                    <a:pt x="8412480" y="9162288"/>
                  </a:lnTo>
                  <a:cubicBezTo>
                    <a:pt x="8412480" y="9303639"/>
                    <a:pt x="8297926" y="9418320"/>
                    <a:pt x="8156448" y="9418320"/>
                  </a:cubicBezTo>
                  <a:lnTo>
                    <a:pt x="256032" y="9418320"/>
                  </a:lnTo>
                  <a:cubicBezTo>
                    <a:pt x="114554" y="9418320"/>
                    <a:pt x="0" y="9303766"/>
                    <a:pt x="0" y="9162288"/>
                  </a:cubicBezTo>
                  <a:close/>
                </a:path>
              </a:pathLst>
            </a:custGeom>
            <a:solidFill>
              <a:srgbClr val="946C0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538960" y="2880360"/>
            <a:ext cx="54864" cy="54864"/>
            <a:chOff x="0" y="0"/>
            <a:chExt cx="73152" cy="731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868144" y="2880360"/>
            <a:ext cx="54864" cy="54864"/>
            <a:chOff x="0" y="0"/>
            <a:chExt cx="73152" cy="731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5197328" y="2880360"/>
            <a:ext cx="54864" cy="54864"/>
            <a:chOff x="0" y="0"/>
            <a:chExt cx="73152" cy="731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526512" y="2880360"/>
            <a:ext cx="54864" cy="54864"/>
            <a:chOff x="0" y="0"/>
            <a:chExt cx="73152" cy="731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5855696" y="2880360"/>
            <a:ext cx="54864" cy="54864"/>
            <a:chOff x="0" y="0"/>
            <a:chExt cx="73152" cy="731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6184880" y="2880360"/>
            <a:ext cx="54864" cy="54864"/>
            <a:chOff x="0" y="0"/>
            <a:chExt cx="73152" cy="731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514064" y="2880360"/>
            <a:ext cx="54864" cy="54864"/>
            <a:chOff x="0" y="0"/>
            <a:chExt cx="73152" cy="731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4538960" y="3209544"/>
            <a:ext cx="54864" cy="54864"/>
            <a:chOff x="0" y="0"/>
            <a:chExt cx="73152" cy="7315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4868144" y="3209544"/>
            <a:ext cx="54864" cy="54864"/>
            <a:chOff x="0" y="0"/>
            <a:chExt cx="73152" cy="731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197328" y="3209544"/>
            <a:ext cx="54864" cy="54864"/>
            <a:chOff x="0" y="0"/>
            <a:chExt cx="73152" cy="731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5526512" y="3209544"/>
            <a:ext cx="54864" cy="54864"/>
            <a:chOff x="0" y="0"/>
            <a:chExt cx="73152" cy="731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5855696" y="3209544"/>
            <a:ext cx="54864" cy="54864"/>
            <a:chOff x="0" y="0"/>
            <a:chExt cx="73152" cy="731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6184880" y="3209544"/>
            <a:ext cx="54864" cy="54864"/>
            <a:chOff x="0" y="0"/>
            <a:chExt cx="73152" cy="7315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6514064" y="3209544"/>
            <a:ext cx="54864" cy="54864"/>
            <a:chOff x="0" y="0"/>
            <a:chExt cx="73152" cy="731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538960" y="3538728"/>
            <a:ext cx="54864" cy="54864"/>
            <a:chOff x="0" y="0"/>
            <a:chExt cx="73152" cy="731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4868144" y="3538728"/>
            <a:ext cx="54864" cy="54864"/>
            <a:chOff x="0" y="0"/>
            <a:chExt cx="73152" cy="731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5197328" y="3538728"/>
            <a:ext cx="54864" cy="54864"/>
            <a:chOff x="0" y="0"/>
            <a:chExt cx="73152" cy="7315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5526512" y="3538728"/>
            <a:ext cx="54864" cy="54864"/>
            <a:chOff x="0" y="0"/>
            <a:chExt cx="73152" cy="731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5855696" y="3538728"/>
            <a:ext cx="54864" cy="54864"/>
            <a:chOff x="0" y="0"/>
            <a:chExt cx="73152" cy="731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6184880" y="3538728"/>
            <a:ext cx="54864" cy="54864"/>
            <a:chOff x="0" y="0"/>
            <a:chExt cx="73152" cy="731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6514064" y="3538728"/>
            <a:ext cx="54864" cy="54864"/>
            <a:chOff x="0" y="0"/>
            <a:chExt cx="73152" cy="731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152" cy="73152"/>
            </a:xfrm>
            <a:custGeom>
              <a:avLst/>
              <a:gdLst/>
              <a:ahLst/>
              <a:cxnLst/>
              <a:rect r="r" b="b" t="t" l="l"/>
              <a:pathLst>
                <a:path h="73152" w="7315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cubicBezTo>
                    <a:pt x="56769" y="0"/>
                    <a:pt x="73152" y="16383"/>
                    <a:pt x="73152" y="36576"/>
                  </a:cubicBezTo>
                  <a:cubicBezTo>
                    <a:pt x="73152" y="56769"/>
                    <a:pt x="56769" y="73152"/>
                    <a:pt x="36576" y="73152"/>
                  </a:cubicBezTo>
                  <a:cubicBezTo>
                    <a:pt x="16383" y="73152"/>
                    <a:pt x="0" y="56769"/>
                    <a:pt x="0" y="36576"/>
                  </a:cubicBezTo>
                  <a:close/>
                </a:path>
              </a:pathLst>
            </a:custGeom>
            <a:solidFill>
              <a:srgbClr val="EFCECB">
                <a:alpha val="20000"/>
              </a:srgbClr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1590020" y="3017520"/>
            <a:ext cx="5212080" cy="480060"/>
            <a:chOff x="0" y="0"/>
            <a:chExt cx="6949440" cy="6400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949440" cy="640080"/>
            </a:xfrm>
            <a:custGeom>
              <a:avLst/>
              <a:gdLst/>
              <a:ahLst/>
              <a:cxnLst/>
              <a:rect r="r" b="b" t="t" l="l"/>
              <a:pathLst>
                <a:path h="640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69494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72">
                  <a:solidFill>
                    <a:srgbClr val="372A2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TARGET SCALE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1590020" y="3566160"/>
            <a:ext cx="5212080" cy="1508760"/>
            <a:chOff x="0" y="0"/>
            <a:chExt cx="6949440" cy="20116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9494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11" r="0" b="-17311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694944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spc="-162">
                  <a:solidFill>
                    <a:srgbClr val="372A28"/>
                  </a:solidFill>
                  <a:latin typeface="Arbutus Slab"/>
                  <a:ea typeface="Arbutus Slab"/>
                  <a:cs typeface="Arbutus Slab"/>
                  <a:sym typeface="Arbutus Slab"/>
                </a:rPr>
                <a:t>10,000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590020" y="5074920"/>
            <a:ext cx="5212080" cy="822960"/>
            <a:chOff x="0" y="0"/>
            <a:chExt cx="6949440" cy="10972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949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6949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95">
                  <a:solidFill>
                    <a:srgbClr val="372A2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patterns supported in a single scan</a:t>
              </a:r>
            </a:p>
          </p:txBody>
        </p:sp>
      </p:grpSp>
      <p:sp>
        <p:nvSpPr>
          <p:cNvPr name="AutoShape 115" id="115"/>
          <p:cNvSpPr/>
          <p:nvPr/>
        </p:nvSpPr>
        <p:spPr>
          <a:xfrm rot="12540">
            <a:off x="11580476" y="6304597"/>
            <a:ext cx="5231168" cy="0"/>
          </a:xfrm>
          <a:prstGeom prst="line">
            <a:avLst/>
          </a:prstGeom>
          <a:ln cap="rnd" w="9525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6" id="116"/>
          <p:cNvGrpSpPr/>
          <p:nvPr/>
        </p:nvGrpSpPr>
        <p:grpSpPr>
          <a:xfrm rot="0">
            <a:off x="11590020" y="6652260"/>
            <a:ext cx="5212080" cy="2194560"/>
            <a:chOff x="0" y="0"/>
            <a:chExt cx="6949440" cy="29260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9494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69494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00">
                  <a:solidFill>
                    <a:srgbClr val="372A28"/>
                  </a:solidFill>
                  <a:latin typeface="Arbutus Slab"/>
                  <a:ea typeface="Arbutus Slab"/>
                  <a:cs typeface="Arbutus Slab"/>
                  <a:sym typeface="Arbutus Slab"/>
                </a:rPr>
                <a:t>One pass over the text finds every keyword, instead of one pass per keyword — the core win of Aho–Corasick over repeated single-pattern search.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93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47720" y="685800"/>
            <a:ext cx="1645920" cy="1234440"/>
            <a:chOff x="0" y="0"/>
            <a:chExt cx="2194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200"/>
                </a:lnSpc>
              </a:pPr>
              <a:r>
                <a:rPr lang="en-US" sz="6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754380"/>
            <a:ext cx="12344400" cy="822960"/>
            <a:chOff x="0" y="0"/>
            <a:chExt cx="1645920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59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PROPOSED FUNCTIONALITIES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536192"/>
            <a:ext cx="12344400" cy="553678"/>
            <a:chOff x="0" y="0"/>
            <a:chExt cx="16459200" cy="738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738237"/>
            </a:xfrm>
            <a:custGeom>
              <a:avLst/>
              <a:gdLst/>
              <a:ahLst/>
              <a:cxnLst/>
              <a:rect r="r" b="b" t="t" l="l"/>
              <a:pathLst>
                <a:path h="738237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8237"/>
                  </a:lnTo>
                  <a:lnTo>
                    <a:pt x="0" y="7382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879" r="0" b="-3839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6459200" cy="747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09"/>
                </a:lnSpc>
              </a:pPr>
              <a:r>
                <a:rPr lang="en-US" sz="2924">
                  <a:solidFill>
                    <a:srgbClr val="F2EDDB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Five stages, from raw keywords to a readable match report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595" y="2665095"/>
            <a:ext cx="3201162" cy="4613910"/>
            <a:chOff x="0" y="0"/>
            <a:chExt cx="4268216" cy="6151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68216" cy="6151880"/>
            </a:xfrm>
            <a:custGeom>
              <a:avLst/>
              <a:gdLst/>
              <a:ahLst/>
              <a:cxnLst/>
              <a:rect r="r" b="b" t="t" l="l"/>
              <a:pathLst>
                <a:path h="6151880" w="4268216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4047490" y="0"/>
                  </a:lnTo>
                  <a:cubicBezTo>
                    <a:pt x="4169410" y="0"/>
                    <a:pt x="4268216" y="98806"/>
                    <a:pt x="4268216" y="220726"/>
                  </a:cubicBezTo>
                  <a:lnTo>
                    <a:pt x="4268216" y="5931154"/>
                  </a:lnTo>
                  <a:cubicBezTo>
                    <a:pt x="4268216" y="6053074"/>
                    <a:pt x="4169410" y="6151880"/>
                    <a:pt x="4047490" y="6151880"/>
                  </a:cubicBezTo>
                  <a:lnTo>
                    <a:pt x="220726" y="6151880"/>
                  </a:lnTo>
                  <a:cubicBezTo>
                    <a:pt x="98806" y="6151880"/>
                    <a:pt x="0" y="6053074"/>
                    <a:pt x="0" y="593115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125980" y="3099816"/>
            <a:ext cx="850392" cy="850392"/>
            <a:chOff x="0" y="0"/>
            <a:chExt cx="1133856" cy="1133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DD94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43469" y="2882265"/>
            <a:ext cx="1415415" cy="1415415"/>
            <a:chOff x="0" y="0"/>
            <a:chExt cx="1133856" cy="1133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133856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1D7151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🔍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56432" y="2839212"/>
            <a:ext cx="548640" cy="548640"/>
            <a:chOff x="0" y="0"/>
            <a:chExt cx="7315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B46BD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1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57300" y="4316730"/>
            <a:ext cx="2587752" cy="372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2624">
                <a:solidFill>
                  <a:srgbClr val="2B46BD"/>
                </a:solidFill>
                <a:latin typeface="Varela Round"/>
                <a:ea typeface="Varela Round"/>
                <a:cs typeface="Varela Round"/>
                <a:sym typeface="Varela Round"/>
              </a:rPr>
              <a:t>Pattern Input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8448" y="5160645"/>
            <a:ext cx="2505456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199">
                <a:solidFill>
                  <a:srgbClr val="1D7151"/>
                </a:solidFill>
                <a:latin typeface="Varela Round"/>
                <a:ea typeface="Varela Round"/>
                <a:cs typeface="Varela Round"/>
                <a:sym typeface="Varela Round"/>
              </a:rPr>
              <a:t>Accept multiple keywords from the user and store them efficiently in a Trie.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379595" y="2665095"/>
            <a:ext cx="3201162" cy="4613910"/>
            <a:chOff x="0" y="0"/>
            <a:chExt cx="4268216" cy="6151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68216" cy="6151880"/>
            </a:xfrm>
            <a:custGeom>
              <a:avLst/>
              <a:gdLst/>
              <a:ahLst/>
              <a:cxnLst/>
              <a:rect r="r" b="b" t="t" l="l"/>
              <a:pathLst>
                <a:path h="6151880" w="4268216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4047490" y="0"/>
                  </a:lnTo>
                  <a:cubicBezTo>
                    <a:pt x="4169410" y="0"/>
                    <a:pt x="4268216" y="98806"/>
                    <a:pt x="4268216" y="220726"/>
                  </a:cubicBezTo>
                  <a:lnTo>
                    <a:pt x="4268216" y="5931154"/>
                  </a:lnTo>
                  <a:cubicBezTo>
                    <a:pt x="4268216" y="6053074"/>
                    <a:pt x="4169410" y="6151880"/>
                    <a:pt x="4047490" y="6151880"/>
                  </a:cubicBezTo>
                  <a:lnTo>
                    <a:pt x="220726" y="6151880"/>
                  </a:lnTo>
                  <a:cubicBezTo>
                    <a:pt x="98806" y="6151880"/>
                    <a:pt x="0" y="6053074"/>
                    <a:pt x="0" y="593115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E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554980" y="3099816"/>
            <a:ext cx="850392" cy="850392"/>
            <a:chOff x="0" y="0"/>
            <a:chExt cx="1133856" cy="11338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DD94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314550" y="2965885"/>
            <a:ext cx="1342282" cy="1342282"/>
            <a:chOff x="0" y="0"/>
            <a:chExt cx="1133856" cy="11338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133856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1D7151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📄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85432" y="2839212"/>
            <a:ext cx="548640" cy="548640"/>
            <a:chOff x="0" y="0"/>
            <a:chExt cx="73152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B46BD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686300" y="4316730"/>
            <a:ext cx="2587752" cy="36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524">
                <a:solidFill>
                  <a:srgbClr val="2B46BD"/>
                </a:solidFill>
                <a:latin typeface="Varela Round"/>
                <a:ea typeface="Varela Round"/>
                <a:cs typeface="Varela Round"/>
                <a:sym typeface="Varela Round"/>
              </a:rPr>
              <a:t>Text Input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727448" y="4966816"/>
            <a:ext cx="2505456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499">
                <a:solidFill>
                  <a:srgbClr val="1D7151"/>
                </a:solidFill>
                <a:latin typeface="Varela Round"/>
                <a:ea typeface="Varela Round"/>
                <a:cs typeface="Varela Round"/>
                <a:sym typeface="Varela Round"/>
              </a:rPr>
              <a:t>Accept the body of text that needs to be scanned for matches.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808595" y="2665095"/>
            <a:ext cx="3201162" cy="4613910"/>
            <a:chOff x="0" y="0"/>
            <a:chExt cx="4268216" cy="6151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68216" cy="6151880"/>
            </a:xfrm>
            <a:custGeom>
              <a:avLst/>
              <a:gdLst/>
              <a:ahLst/>
              <a:cxnLst/>
              <a:rect r="r" b="b" t="t" l="l"/>
              <a:pathLst>
                <a:path h="6151880" w="4268216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4047490" y="0"/>
                  </a:lnTo>
                  <a:cubicBezTo>
                    <a:pt x="4169410" y="0"/>
                    <a:pt x="4268216" y="98806"/>
                    <a:pt x="4268216" y="220726"/>
                  </a:cubicBezTo>
                  <a:lnTo>
                    <a:pt x="4268216" y="5931154"/>
                  </a:lnTo>
                  <a:cubicBezTo>
                    <a:pt x="4268216" y="6053074"/>
                    <a:pt x="4169410" y="6151880"/>
                    <a:pt x="4047490" y="6151880"/>
                  </a:cubicBezTo>
                  <a:lnTo>
                    <a:pt x="220726" y="6151880"/>
                  </a:lnTo>
                  <a:cubicBezTo>
                    <a:pt x="98806" y="6151880"/>
                    <a:pt x="0" y="6053074"/>
                    <a:pt x="0" y="593115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A254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983980" y="3099816"/>
            <a:ext cx="850392" cy="850392"/>
            <a:chOff x="0" y="0"/>
            <a:chExt cx="1133856" cy="11338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DD947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983980" y="3099816"/>
            <a:ext cx="850392" cy="850392"/>
            <a:chOff x="0" y="0"/>
            <a:chExt cx="1133856" cy="11338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133856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2B46BD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⚡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314432" y="2839212"/>
            <a:ext cx="548640" cy="548640"/>
            <a:chOff x="0" y="0"/>
            <a:chExt cx="7315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B46BD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3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8115300" y="4136954"/>
            <a:ext cx="2587752" cy="67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2424">
                <a:solidFill>
                  <a:srgbClr val="2B46BD"/>
                </a:solidFill>
                <a:latin typeface="Varela Round"/>
                <a:ea typeface="Varela Round"/>
                <a:cs typeface="Varela Round"/>
                <a:sym typeface="Varela Round"/>
              </a:rPr>
              <a:t>Multi-Pattern Search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156448" y="4773930"/>
            <a:ext cx="2505456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499">
                <a:solidFill>
                  <a:srgbClr val="1D7151"/>
                </a:solidFill>
                <a:latin typeface="Varela Round"/>
                <a:ea typeface="Varela Round"/>
                <a:cs typeface="Varela Round"/>
                <a:sym typeface="Varela Round"/>
              </a:rPr>
              <a:t>Run the Aho–Corasick algorithm to search all patterns in a single pass.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237595" y="2665095"/>
            <a:ext cx="3201162" cy="4613910"/>
            <a:chOff x="0" y="0"/>
            <a:chExt cx="4268216" cy="61518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8216" cy="6151880"/>
            </a:xfrm>
            <a:custGeom>
              <a:avLst/>
              <a:gdLst/>
              <a:ahLst/>
              <a:cxnLst/>
              <a:rect r="r" b="b" t="t" l="l"/>
              <a:pathLst>
                <a:path h="6151880" w="4268216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4047490" y="0"/>
                  </a:lnTo>
                  <a:cubicBezTo>
                    <a:pt x="4169410" y="0"/>
                    <a:pt x="4268216" y="98806"/>
                    <a:pt x="4268216" y="220726"/>
                  </a:cubicBezTo>
                  <a:lnTo>
                    <a:pt x="4268216" y="5931154"/>
                  </a:lnTo>
                  <a:cubicBezTo>
                    <a:pt x="4268216" y="6053074"/>
                    <a:pt x="4169410" y="6151880"/>
                    <a:pt x="4047490" y="6151880"/>
                  </a:cubicBezTo>
                  <a:lnTo>
                    <a:pt x="220726" y="6151880"/>
                  </a:lnTo>
                  <a:cubicBezTo>
                    <a:pt x="98806" y="6151880"/>
                    <a:pt x="0" y="6053074"/>
                    <a:pt x="0" y="593115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ED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412980" y="3099816"/>
            <a:ext cx="850392" cy="850392"/>
            <a:chOff x="0" y="0"/>
            <a:chExt cx="1133856" cy="11338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DD94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412980" y="3099816"/>
            <a:ext cx="850392" cy="850392"/>
            <a:chOff x="0" y="0"/>
            <a:chExt cx="1133856" cy="11338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133856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2B46BD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📍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743432" y="2839212"/>
            <a:ext cx="548640" cy="548640"/>
            <a:chOff x="0" y="0"/>
            <a:chExt cx="731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B46BD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4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544300" y="4316730"/>
            <a:ext cx="2587752" cy="77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7"/>
              </a:lnSpc>
            </a:pPr>
            <a:r>
              <a:rPr lang="en-US" sz="2724">
                <a:solidFill>
                  <a:srgbClr val="2B46BD"/>
                </a:solidFill>
                <a:latin typeface="Varela Round"/>
                <a:ea typeface="Varela Round"/>
                <a:cs typeface="Varela Round"/>
                <a:sym typeface="Varela Round"/>
              </a:rPr>
              <a:t>Match Detection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585448" y="5151120"/>
            <a:ext cx="2505456" cy="194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299">
                <a:solidFill>
                  <a:srgbClr val="1D7151"/>
                </a:solidFill>
                <a:latin typeface="Varela Round"/>
                <a:ea typeface="Varela Round"/>
                <a:cs typeface="Varela Round"/>
                <a:sym typeface="Varela Round"/>
              </a:rPr>
              <a:t>Identify every occurrence and pinpoint the matched keyword and its position.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4666595" y="2665095"/>
            <a:ext cx="3201162" cy="4613910"/>
            <a:chOff x="0" y="0"/>
            <a:chExt cx="4268216" cy="6151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268216" cy="6151880"/>
            </a:xfrm>
            <a:custGeom>
              <a:avLst/>
              <a:gdLst/>
              <a:ahLst/>
              <a:cxnLst/>
              <a:rect r="r" b="b" t="t" l="l"/>
              <a:pathLst>
                <a:path h="6151880" w="4268216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4047490" y="0"/>
                  </a:lnTo>
                  <a:cubicBezTo>
                    <a:pt x="4169410" y="0"/>
                    <a:pt x="4268216" y="98806"/>
                    <a:pt x="4268216" y="220726"/>
                  </a:cubicBezTo>
                  <a:lnTo>
                    <a:pt x="4268216" y="5931154"/>
                  </a:lnTo>
                  <a:cubicBezTo>
                    <a:pt x="4268216" y="6053074"/>
                    <a:pt x="4169410" y="6151880"/>
                    <a:pt x="4047490" y="6151880"/>
                  </a:cubicBezTo>
                  <a:lnTo>
                    <a:pt x="220726" y="6151880"/>
                  </a:lnTo>
                  <a:cubicBezTo>
                    <a:pt x="98806" y="6151880"/>
                    <a:pt x="0" y="6053074"/>
                    <a:pt x="0" y="593115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ED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5841980" y="3099816"/>
            <a:ext cx="850392" cy="850392"/>
            <a:chOff x="0" y="0"/>
            <a:chExt cx="1133856" cy="113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DD947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5841980" y="3099816"/>
            <a:ext cx="850392" cy="850392"/>
            <a:chOff x="0" y="0"/>
            <a:chExt cx="1133856" cy="11338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1133856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2B46BD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📊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7172432" y="2839212"/>
            <a:ext cx="548640" cy="548640"/>
            <a:chOff x="0" y="0"/>
            <a:chExt cx="73152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B46BD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5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4973300" y="4316730"/>
            <a:ext cx="2587752" cy="39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7"/>
              </a:lnSpc>
            </a:pPr>
            <a:r>
              <a:rPr lang="en-US" sz="2724">
                <a:solidFill>
                  <a:srgbClr val="2B46BD"/>
                </a:solidFill>
                <a:latin typeface="Varela Round"/>
                <a:ea typeface="Varela Round"/>
                <a:cs typeface="Varela Round"/>
                <a:sym typeface="Varela Round"/>
              </a:rPr>
              <a:t>Results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5014448" y="4830127"/>
            <a:ext cx="2505456" cy="2188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2599">
                <a:solidFill>
                  <a:srgbClr val="1D7151"/>
                </a:solidFill>
                <a:latin typeface="Varela Round"/>
                <a:ea typeface="Varela Round"/>
                <a:cs typeface="Varela Round"/>
                <a:sym typeface="Varela Round"/>
              </a:rPr>
              <a:t>Show the total match count in a clear, readable results view.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60120" y="7749540"/>
            <a:ext cx="16363188" cy="1165860"/>
            <a:chOff x="0" y="0"/>
            <a:chExt cx="21817584" cy="15544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817585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81758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598128" y="0"/>
                  </a:lnTo>
                  <a:cubicBezTo>
                    <a:pt x="21719287" y="0"/>
                    <a:pt x="21817585" y="98298"/>
                    <a:pt x="21817585" y="219456"/>
                  </a:cubicBezTo>
                  <a:lnTo>
                    <a:pt x="21817585" y="1335024"/>
                  </a:lnTo>
                  <a:cubicBezTo>
                    <a:pt x="21817585" y="1456182"/>
                    <a:pt x="21719287" y="1554480"/>
                    <a:pt x="21598128" y="1554480"/>
                  </a:cubicBezTo>
                  <a:lnTo>
                    <a:pt x="219456" y="1554480"/>
                  </a:lnTo>
                  <a:cubicBezTo>
                    <a:pt x="98298" y="1554480"/>
                    <a:pt x="0" y="1456182"/>
                    <a:pt x="0" y="1335024"/>
                  </a:cubicBezTo>
                  <a:close/>
                </a:path>
              </a:pathLst>
            </a:custGeom>
            <a:solidFill>
              <a:srgbClr val="EDD947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60120" y="7749540"/>
            <a:ext cx="4090797" cy="1165860"/>
            <a:chOff x="0" y="0"/>
            <a:chExt cx="5454396" cy="15544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454396" cy="1554480"/>
            </a:xfrm>
            <a:custGeom>
              <a:avLst/>
              <a:gdLst/>
              <a:ahLst/>
              <a:cxnLst/>
              <a:rect r="r" b="b" t="t" l="l"/>
              <a:pathLst>
                <a:path h="1554480" w="5454396">
                  <a:moveTo>
                    <a:pt x="0" y="0"/>
                  </a:moveTo>
                  <a:lnTo>
                    <a:pt x="5454396" y="0"/>
                  </a:lnTo>
                  <a:lnTo>
                    <a:pt x="5454396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69" r="0" b="-1836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5454396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39"/>
                </a:lnSpc>
              </a:pPr>
              <a:r>
                <a:rPr lang="en-US" sz="2949">
                  <a:solidFill>
                    <a:srgbClr val="1D7151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Patterns → Trie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612005" y="7749540"/>
            <a:ext cx="685800" cy="1165860"/>
            <a:chOff x="0" y="0"/>
            <a:chExt cx="914400" cy="15544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8116" t="0" r="-168116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91440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2B46BD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→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050917" y="7749540"/>
            <a:ext cx="4090797" cy="1165860"/>
            <a:chOff x="0" y="0"/>
            <a:chExt cx="5454396" cy="15544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454396" cy="1554480"/>
            </a:xfrm>
            <a:custGeom>
              <a:avLst/>
              <a:gdLst/>
              <a:ahLst/>
              <a:cxnLst/>
              <a:rect r="r" b="b" t="t" l="l"/>
              <a:pathLst>
                <a:path h="1554480" w="5454396">
                  <a:moveTo>
                    <a:pt x="0" y="0"/>
                  </a:moveTo>
                  <a:lnTo>
                    <a:pt x="5454396" y="0"/>
                  </a:lnTo>
                  <a:lnTo>
                    <a:pt x="5454396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69" r="0" b="-1836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5454396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79"/>
                </a:lnSpc>
              </a:pPr>
              <a:r>
                <a:rPr lang="en-US" sz="2649">
                  <a:solidFill>
                    <a:srgbClr val="1D7151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BFS → Failure Links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702802" y="7749540"/>
            <a:ext cx="685800" cy="1165860"/>
            <a:chOff x="0" y="0"/>
            <a:chExt cx="914400" cy="15544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14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8116" t="0" r="-168116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91440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2B46BD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→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141714" y="7749540"/>
            <a:ext cx="4090797" cy="1165860"/>
            <a:chOff x="0" y="0"/>
            <a:chExt cx="5454396" cy="15544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454396" cy="1554480"/>
            </a:xfrm>
            <a:custGeom>
              <a:avLst/>
              <a:gdLst/>
              <a:ahLst/>
              <a:cxnLst/>
              <a:rect r="r" b="b" t="t" l="l"/>
              <a:pathLst>
                <a:path h="1554480" w="5454396">
                  <a:moveTo>
                    <a:pt x="0" y="0"/>
                  </a:moveTo>
                  <a:lnTo>
                    <a:pt x="5454396" y="0"/>
                  </a:lnTo>
                  <a:lnTo>
                    <a:pt x="5454396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69" r="0" b="-1836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5454396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39"/>
                </a:lnSpc>
              </a:pPr>
              <a:r>
                <a:rPr lang="en-US" sz="2949">
                  <a:solidFill>
                    <a:srgbClr val="1D7151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Scan Text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793599" y="7749540"/>
            <a:ext cx="685800" cy="1165860"/>
            <a:chOff x="0" y="0"/>
            <a:chExt cx="914400" cy="15544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8116" t="0" r="-168116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91440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2B46BD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→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232511" y="7749540"/>
            <a:ext cx="4090797" cy="1165860"/>
            <a:chOff x="0" y="0"/>
            <a:chExt cx="5454396" cy="15544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454396" cy="1554480"/>
            </a:xfrm>
            <a:custGeom>
              <a:avLst/>
              <a:gdLst/>
              <a:ahLst/>
              <a:cxnLst/>
              <a:rect r="r" b="b" t="t" l="l"/>
              <a:pathLst>
                <a:path h="1554480" w="5454396">
                  <a:moveTo>
                    <a:pt x="0" y="0"/>
                  </a:moveTo>
                  <a:lnTo>
                    <a:pt x="5454396" y="0"/>
                  </a:lnTo>
                  <a:lnTo>
                    <a:pt x="5454396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69" r="0" b="-18369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5454396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9"/>
                </a:lnSpc>
              </a:pPr>
              <a:r>
                <a:rPr lang="en-US" sz="2749">
                  <a:solidFill>
                    <a:srgbClr val="1D7151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Report Matches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4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47720" y="685800"/>
            <a:ext cx="1645920" cy="1304059"/>
            <a:chOff x="0" y="0"/>
            <a:chExt cx="2194560" cy="1738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" cy="1738746"/>
            </a:xfrm>
            <a:custGeom>
              <a:avLst/>
              <a:gdLst/>
              <a:ahLst/>
              <a:cxnLst/>
              <a:rect r="r" b="b" t="t" l="l"/>
              <a:pathLst>
                <a:path h="173874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738746"/>
                  </a:lnTo>
                  <a:lnTo>
                    <a:pt x="0" y="17387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533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" cy="173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200"/>
                </a:lnSpc>
              </a:pPr>
              <a:r>
                <a:rPr lang="en-US" sz="6000">
                  <a:solidFill>
                    <a:srgbClr val="795833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754380"/>
            <a:ext cx="12344400" cy="1027048"/>
            <a:chOff x="0" y="0"/>
            <a:chExt cx="16459200" cy="13693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1369398"/>
            </a:xfrm>
            <a:custGeom>
              <a:avLst/>
              <a:gdLst/>
              <a:ahLst/>
              <a:cxnLst/>
              <a:rect r="r" b="b" t="t" l="l"/>
              <a:pathLst>
                <a:path h="136939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369398"/>
                  </a:lnTo>
                  <a:lnTo>
                    <a:pt x="0" y="13693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132" r="0" b="-1742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59200" cy="1378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99"/>
                </a:lnSpc>
              </a:pPr>
              <a:r>
                <a:rPr lang="en-US" sz="5499">
                  <a:solidFill>
                    <a:srgbClr val="795833"/>
                  </a:solidFill>
                  <a:latin typeface="Nickainley"/>
                  <a:ea typeface="Nickainley"/>
                  <a:cs typeface="Nickainley"/>
                  <a:sym typeface="Nickainley"/>
                </a:rPr>
                <a:t>Tools &amp; Technologies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715539"/>
            <a:ext cx="12344400" cy="586544"/>
            <a:chOff x="0" y="0"/>
            <a:chExt cx="16459200" cy="7820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782059"/>
            </a:xfrm>
            <a:custGeom>
              <a:avLst/>
              <a:gdLst/>
              <a:ahLst/>
              <a:cxnLst/>
              <a:rect r="r" b="b" t="t" l="l"/>
              <a:pathLst>
                <a:path h="782059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82059"/>
                  </a:lnTo>
                  <a:lnTo>
                    <a:pt x="0" y="7820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313" r="0" b="-3568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6459200" cy="782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9"/>
                </a:lnSpc>
              </a:pPr>
              <a:r>
                <a:rPr lang="en-US" sz="2724">
                  <a:solidFill>
                    <a:srgbClr val="303030"/>
                  </a:solidFill>
                  <a:latin typeface="Inter"/>
                  <a:ea typeface="Inter"/>
                  <a:cs typeface="Inter"/>
                  <a:sym typeface="Inter"/>
                </a:rPr>
                <a:t>What we are actually building with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595" y="2665095"/>
            <a:ext cx="5272278" cy="6259830"/>
            <a:chOff x="0" y="0"/>
            <a:chExt cx="7029704" cy="8346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29704" cy="8346440"/>
            </a:xfrm>
            <a:custGeom>
              <a:avLst/>
              <a:gdLst/>
              <a:ahLst/>
              <a:cxnLst/>
              <a:rect r="r" b="b" t="t" l="l"/>
              <a:pathLst>
                <a:path h="8346440" w="7029704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6809486" y="0"/>
                  </a:lnTo>
                  <a:cubicBezTo>
                    <a:pt x="6931152" y="0"/>
                    <a:pt x="7029704" y="98552"/>
                    <a:pt x="7029704" y="220218"/>
                  </a:cubicBezTo>
                  <a:lnTo>
                    <a:pt x="7029704" y="8126222"/>
                  </a:lnTo>
                  <a:cubicBezTo>
                    <a:pt x="7029704" y="8247888"/>
                    <a:pt x="6931152" y="8346440"/>
                    <a:pt x="6809486" y="8346440"/>
                  </a:cubicBezTo>
                  <a:lnTo>
                    <a:pt x="220218" y="8346440"/>
                  </a:lnTo>
                  <a:cubicBezTo>
                    <a:pt x="98552" y="8346440"/>
                    <a:pt x="0" y="8247888"/>
                    <a:pt x="0" y="8126222"/>
                  </a:cubicBezTo>
                  <a:close/>
                </a:path>
              </a:pathLst>
            </a:custGeom>
            <a:solidFill>
              <a:srgbClr val="946C0A"/>
            </a:solidFill>
            <a:ln w="19050" cap="sq">
              <a:solidFill>
                <a:srgbClr val="E3E8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16736" y="3031236"/>
            <a:ext cx="795528" cy="795528"/>
            <a:chOff x="0" y="0"/>
            <a:chExt cx="1060704" cy="10607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51ABB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16736" y="3031236"/>
            <a:ext cx="795528" cy="795528"/>
            <a:chOff x="0" y="0"/>
            <a:chExt cx="1060704" cy="10607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60704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303030"/>
                  </a:solidFill>
                  <a:latin typeface="Inter"/>
                  <a:ea typeface="Inter"/>
                  <a:cs typeface="Inter"/>
                  <a:sym typeface="Inter"/>
                </a:rPr>
                <a:t>⚙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31720" y="3044952"/>
            <a:ext cx="3607308" cy="754380"/>
            <a:chOff x="0" y="0"/>
            <a:chExt cx="4809744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097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09744">
                  <a:moveTo>
                    <a:pt x="0" y="0"/>
                  </a:moveTo>
                  <a:lnTo>
                    <a:pt x="4809744" y="0"/>
                  </a:lnTo>
                  <a:lnTo>
                    <a:pt x="480974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73" r="0" b="-4317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4809744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8"/>
                </a:lnSpc>
              </a:pPr>
              <a:r>
                <a:rPr lang="en-US" sz="2324">
                  <a:solidFill>
                    <a:srgbClr val="F0DFC8"/>
                  </a:solidFill>
                  <a:latin typeface="Inter"/>
                  <a:ea typeface="Inter"/>
                  <a:cs typeface="Inter"/>
                  <a:sym typeface="Inter"/>
                </a:rPr>
                <a:t>PROGRAMMING / DSA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14700">
            <a:off x="1362056" y="4178617"/>
            <a:ext cx="4449356" cy="0"/>
          </a:xfrm>
          <a:prstGeom prst="line">
            <a:avLst/>
          </a:prstGeom>
          <a:ln cap="rnd" w="9525">
            <a:solidFill>
              <a:srgbClr val="FFB1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399032" y="4636008"/>
            <a:ext cx="96012" cy="96012"/>
            <a:chOff x="0" y="0"/>
            <a:chExt cx="128016" cy="1280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51ABB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838324" y="4443222"/>
            <a:ext cx="3973068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49">
                <a:solidFill>
                  <a:srgbClr val="F0DFC8"/>
                </a:solidFill>
                <a:latin typeface="Inter"/>
                <a:ea typeface="Inter"/>
                <a:cs typeface="Inter"/>
                <a:sym typeface="Inter"/>
              </a:rPr>
              <a:t>Java — core implementation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99032" y="5623560"/>
            <a:ext cx="96012" cy="96012"/>
            <a:chOff x="0" y="0"/>
            <a:chExt cx="128016" cy="1280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51ABB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838324" y="5560821"/>
            <a:ext cx="3973068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49">
                <a:solidFill>
                  <a:srgbClr val="F0DFC8"/>
                </a:solidFill>
                <a:latin typeface="Inter"/>
                <a:ea typeface="Inter"/>
                <a:cs typeface="Inter"/>
                <a:sym typeface="Inter"/>
              </a:rPr>
              <a:t>Trie — pattern storage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99032" y="6611112"/>
            <a:ext cx="96012" cy="96012"/>
            <a:chOff x="0" y="0"/>
            <a:chExt cx="128016" cy="1280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51ABB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838324" y="6316471"/>
            <a:ext cx="3973068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49">
                <a:solidFill>
                  <a:srgbClr val="F0DFC8"/>
                </a:solidFill>
                <a:latin typeface="Inter"/>
                <a:ea typeface="Inter"/>
                <a:cs typeface="Inter"/>
                <a:sym typeface="Inter"/>
              </a:rPr>
              <a:t>Queue — BFS processing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99032" y="7598664"/>
            <a:ext cx="96012" cy="96012"/>
            <a:chOff x="0" y="0"/>
            <a:chExt cx="128016" cy="1280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51ABB2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838324" y="7424545"/>
            <a:ext cx="3973068" cy="91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2849">
                <a:solidFill>
                  <a:srgbClr val="F0DFC8"/>
                </a:solidFill>
                <a:latin typeface="Inter"/>
                <a:ea typeface="Inter"/>
                <a:cs typeface="Inter"/>
                <a:sym typeface="Inter"/>
              </a:rPr>
              <a:t>Aho–Corasick — multi-pattern matching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550152" y="2665095"/>
            <a:ext cx="5272278" cy="6259830"/>
            <a:chOff x="0" y="0"/>
            <a:chExt cx="7029704" cy="8346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29704" cy="8346440"/>
            </a:xfrm>
            <a:custGeom>
              <a:avLst/>
              <a:gdLst/>
              <a:ahLst/>
              <a:cxnLst/>
              <a:rect r="r" b="b" t="t" l="l"/>
              <a:pathLst>
                <a:path h="8346440" w="7029704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6809486" y="0"/>
                  </a:lnTo>
                  <a:cubicBezTo>
                    <a:pt x="6931152" y="0"/>
                    <a:pt x="7029704" y="98552"/>
                    <a:pt x="7029704" y="220218"/>
                  </a:cubicBezTo>
                  <a:lnTo>
                    <a:pt x="7029704" y="8126222"/>
                  </a:lnTo>
                  <a:cubicBezTo>
                    <a:pt x="7029704" y="8247888"/>
                    <a:pt x="6931152" y="8346440"/>
                    <a:pt x="6809486" y="8346440"/>
                  </a:cubicBezTo>
                  <a:lnTo>
                    <a:pt x="220218" y="8346440"/>
                  </a:lnTo>
                  <a:cubicBezTo>
                    <a:pt x="98552" y="8346440"/>
                    <a:pt x="0" y="8247888"/>
                    <a:pt x="0" y="8126222"/>
                  </a:cubicBezTo>
                  <a:close/>
                </a:path>
              </a:pathLst>
            </a:custGeom>
            <a:solidFill>
              <a:srgbClr val="795833"/>
            </a:solidFill>
            <a:ln w="19050" cap="sq">
              <a:solidFill>
                <a:srgbClr val="E3E8E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871716" y="3031236"/>
            <a:ext cx="795528" cy="795528"/>
            <a:chOff x="0" y="0"/>
            <a:chExt cx="1060704" cy="10607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51ABB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871716" y="3031236"/>
            <a:ext cx="795528" cy="795528"/>
            <a:chOff x="0" y="0"/>
            <a:chExt cx="1060704" cy="10607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060704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303030"/>
                  </a:solidFill>
                  <a:latin typeface="Inter"/>
                  <a:ea typeface="Inter"/>
                  <a:cs typeface="Inter"/>
                  <a:sym typeface="Inter"/>
                </a:rPr>
                <a:t>🛠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86700" y="3044952"/>
            <a:ext cx="3607308" cy="754380"/>
            <a:chOff x="0" y="0"/>
            <a:chExt cx="4809744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097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09744">
                  <a:moveTo>
                    <a:pt x="0" y="0"/>
                  </a:moveTo>
                  <a:lnTo>
                    <a:pt x="4809744" y="0"/>
                  </a:lnTo>
                  <a:lnTo>
                    <a:pt x="480974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73" r="0" b="-4317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4809744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5"/>
                </a:lnSpc>
              </a:pPr>
              <a:r>
                <a:rPr lang="en-US" sz="2224">
                  <a:solidFill>
                    <a:srgbClr val="F0DFC8"/>
                  </a:solidFill>
                  <a:latin typeface="Inter"/>
                  <a:ea typeface="Inter"/>
                  <a:cs typeface="Inter"/>
                  <a:sym typeface="Inter"/>
                </a:rPr>
                <a:t>DEVELOPMENT TOOLS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14700">
            <a:off x="6917036" y="4178617"/>
            <a:ext cx="4449356" cy="0"/>
          </a:xfrm>
          <a:prstGeom prst="line">
            <a:avLst/>
          </a:prstGeom>
          <a:ln cap="rnd" w="9525">
            <a:solidFill>
              <a:srgbClr val="FFB1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6954012" y="4636008"/>
            <a:ext cx="96012" cy="96012"/>
            <a:chOff x="0" y="0"/>
            <a:chExt cx="128016" cy="1280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51ABB2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7292340" y="4443222"/>
            <a:ext cx="3973068" cy="46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949">
                <a:solidFill>
                  <a:srgbClr val="F0DFC8"/>
                </a:solidFill>
                <a:latin typeface="Inter"/>
                <a:ea typeface="Inter"/>
                <a:cs typeface="Inter"/>
                <a:sym typeface="Inter"/>
              </a:rPr>
              <a:t>VS Code 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954012" y="5623560"/>
            <a:ext cx="96012" cy="96012"/>
            <a:chOff x="0" y="0"/>
            <a:chExt cx="128016" cy="1280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51ABB2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269480" y="5652516"/>
            <a:ext cx="3973068" cy="144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049">
                <a:solidFill>
                  <a:srgbClr val="F0DFC8"/>
                </a:solidFill>
                <a:latin typeface="Inter"/>
                <a:ea typeface="Inter"/>
                <a:cs typeface="Inter"/>
                <a:sym typeface="Inter"/>
              </a:rPr>
              <a:t>Git &amp; GitHub — version control &amp; repository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060555" y="2665095"/>
            <a:ext cx="5272278" cy="6259830"/>
            <a:chOff x="0" y="0"/>
            <a:chExt cx="7029704" cy="8346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029704" cy="8346440"/>
            </a:xfrm>
            <a:custGeom>
              <a:avLst/>
              <a:gdLst/>
              <a:ahLst/>
              <a:cxnLst/>
              <a:rect r="r" b="b" t="t" l="l"/>
              <a:pathLst>
                <a:path h="8346440" w="7029704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6809486" y="0"/>
                  </a:lnTo>
                  <a:cubicBezTo>
                    <a:pt x="6931152" y="0"/>
                    <a:pt x="7029704" y="98552"/>
                    <a:pt x="7029704" y="220218"/>
                  </a:cubicBezTo>
                  <a:lnTo>
                    <a:pt x="7029704" y="8126222"/>
                  </a:lnTo>
                  <a:cubicBezTo>
                    <a:pt x="7029704" y="8247888"/>
                    <a:pt x="6931152" y="8346440"/>
                    <a:pt x="6809486" y="8346440"/>
                  </a:cubicBezTo>
                  <a:lnTo>
                    <a:pt x="220218" y="8346440"/>
                  </a:lnTo>
                  <a:cubicBezTo>
                    <a:pt x="98552" y="8346440"/>
                    <a:pt x="0" y="8247888"/>
                    <a:pt x="0" y="8126222"/>
                  </a:cubicBezTo>
                  <a:close/>
                </a:path>
              </a:pathLst>
            </a:custGeom>
            <a:solidFill>
              <a:srgbClr val="795833"/>
            </a:solidFill>
            <a:ln w="19050" cap="sq">
              <a:solidFill>
                <a:srgbClr val="E3E8ED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426696" y="3031236"/>
            <a:ext cx="795528" cy="795528"/>
            <a:chOff x="0" y="0"/>
            <a:chExt cx="1060704" cy="10607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51ABB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426696" y="3031236"/>
            <a:ext cx="795528" cy="795528"/>
            <a:chOff x="0" y="0"/>
            <a:chExt cx="1060704" cy="106070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060704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303030"/>
                  </a:solidFill>
                  <a:latin typeface="Inter"/>
                  <a:ea typeface="Inter"/>
                  <a:cs typeface="Inter"/>
                  <a:sym typeface="Inter"/>
                </a:rPr>
                <a:t>🖥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441680" y="3044952"/>
            <a:ext cx="3607308" cy="754380"/>
            <a:chOff x="0" y="0"/>
            <a:chExt cx="4809744" cy="1005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8097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09744">
                  <a:moveTo>
                    <a:pt x="0" y="0"/>
                  </a:moveTo>
                  <a:lnTo>
                    <a:pt x="4809744" y="0"/>
                  </a:lnTo>
                  <a:lnTo>
                    <a:pt x="480974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73" r="0" b="-4317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9525"/>
              <a:ext cx="4809744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9"/>
                </a:lnSpc>
              </a:pPr>
              <a:r>
                <a:rPr lang="en-US" sz="1725">
                  <a:solidFill>
                    <a:srgbClr val="F0DFC8"/>
                  </a:solidFill>
                  <a:latin typeface="Inter"/>
                  <a:ea typeface="Inter"/>
                  <a:cs typeface="Inter"/>
                  <a:sym typeface="Inter"/>
                </a:rPr>
                <a:t>OPTIONAL INTERFACE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 rot="14700">
            <a:off x="12472016" y="4178617"/>
            <a:ext cx="4449356" cy="0"/>
          </a:xfrm>
          <a:prstGeom prst="line">
            <a:avLst/>
          </a:prstGeom>
          <a:ln cap="rnd" w="9525">
            <a:solidFill>
              <a:srgbClr val="FFB1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2" id="62"/>
          <p:cNvGrpSpPr/>
          <p:nvPr/>
        </p:nvGrpSpPr>
        <p:grpSpPr>
          <a:xfrm rot="0">
            <a:off x="12508992" y="4636008"/>
            <a:ext cx="96012" cy="96012"/>
            <a:chOff x="0" y="0"/>
            <a:chExt cx="128016" cy="1280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51ABB2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2710160" y="4443222"/>
            <a:ext cx="3973068" cy="330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3449">
                <a:solidFill>
                  <a:srgbClr val="F0DFC8"/>
                </a:solidFill>
                <a:latin typeface="Inter"/>
                <a:ea typeface="Inter"/>
                <a:cs typeface="Inter"/>
                <a:sym typeface="Inter"/>
              </a:rPr>
              <a:t>HTML, CSS &amp; JavaScript — simple UI for entering text/patterns and viewing results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60120" y="9258300"/>
            <a:ext cx="16322040" cy="615335"/>
            <a:chOff x="0" y="0"/>
            <a:chExt cx="21762720" cy="82044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762720" cy="820446"/>
            </a:xfrm>
            <a:custGeom>
              <a:avLst/>
              <a:gdLst/>
              <a:ahLst/>
              <a:cxnLst/>
              <a:rect r="r" b="b" t="t" l="l"/>
              <a:pathLst>
                <a:path h="82044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20446"/>
                  </a:lnTo>
                  <a:lnTo>
                    <a:pt x="0" y="8204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841" r="0" b="-45585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21762720" cy="829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874">
                  <a:solidFill>
                    <a:srgbClr val="303030"/>
                  </a:solidFill>
                  <a:latin typeface="Inter"/>
                  <a:ea typeface="Inter"/>
                  <a:cs typeface="Inter"/>
                  <a:sym typeface="Inter"/>
                </a:rPr>
                <a:t>Note: scoped to the technologies the team will actually implement.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64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2344400" cy="1218879"/>
            <a:chOff x="0" y="0"/>
            <a:chExt cx="16459200" cy="1625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625171"/>
            </a:xfrm>
            <a:custGeom>
              <a:avLst/>
              <a:gdLst/>
              <a:ahLst/>
              <a:cxnLst/>
              <a:rect r="r" b="b" t="t" l="l"/>
              <a:pathLst>
                <a:path h="1625171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625171"/>
                  </a:lnTo>
                  <a:lnTo>
                    <a:pt x="0" y="16251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79" r="0" b="-13109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6459200" cy="1739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>
                  <a:solidFill>
                    <a:srgbClr val="FFF5F0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Expected Outcome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887855"/>
            <a:ext cx="12344400" cy="877982"/>
            <a:chOff x="0" y="0"/>
            <a:chExt cx="16459200" cy="1170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1170643"/>
            </a:xfrm>
            <a:custGeom>
              <a:avLst/>
              <a:gdLst/>
              <a:ahLst/>
              <a:cxnLst/>
              <a:rect r="r" b="b" t="t" l="l"/>
              <a:pathLst>
                <a:path h="1170643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70643"/>
                  </a:lnTo>
                  <a:lnTo>
                    <a:pt x="0" y="11706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714" r="0" b="-20520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59200" cy="1180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9"/>
                </a:lnSpc>
              </a:pPr>
              <a:r>
                <a:rPr lang="en-US" sz="2724" spc="54">
                  <a:solidFill>
                    <a:srgbClr val="FFF5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A fast, efficient multi-pattern search system — built and proven end to 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8304" y="3747135"/>
            <a:ext cx="466344" cy="466344"/>
            <a:chOff x="0" y="0"/>
            <a:chExt cx="621792" cy="6217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5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6488" y="3799332"/>
            <a:ext cx="466344" cy="493776"/>
            <a:chOff x="0" y="0"/>
            <a:chExt cx="621792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" cy="658368"/>
            </a:xfrm>
            <a:custGeom>
              <a:avLst/>
              <a:gdLst/>
              <a:ahLst/>
              <a:cxnLst/>
              <a:rect r="r" b="b" t="t" l="l"/>
              <a:pathLst>
                <a:path h="658368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850" t="0" r="-8585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21792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A6646B"/>
                  </a:solidFill>
                  <a:latin typeface="Tenor Sans"/>
                  <a:ea typeface="Tenor Sans"/>
                  <a:cs typeface="Tenor Sans"/>
                  <a:sym typeface="Tenor Sans"/>
                </a:rPr>
                <a:t>✓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92788" y="3600450"/>
            <a:ext cx="8641080" cy="754380"/>
            <a:chOff x="0" y="0"/>
            <a:chExt cx="115214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521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192" r="0" b="-17319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5214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1"/>
                </a:lnSpc>
              </a:pPr>
              <a:r>
                <a:rPr lang="en-US" sz="2649" spc="52">
                  <a:solidFill>
                    <a:srgbClr val="FFF5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Successfully build a Trie from the given patterns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3722" y="4708779"/>
            <a:ext cx="499110" cy="499110"/>
            <a:chOff x="0" y="0"/>
            <a:chExt cx="621792" cy="6217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5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" y="4766310"/>
            <a:ext cx="362712" cy="384048"/>
            <a:chOff x="0" y="0"/>
            <a:chExt cx="621792" cy="6583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" cy="658368"/>
            </a:xfrm>
            <a:custGeom>
              <a:avLst/>
              <a:gdLst/>
              <a:ahLst/>
              <a:cxnLst/>
              <a:rect r="r" b="b" t="t" l="l"/>
              <a:pathLst>
                <a:path h="658368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850" t="0" r="-8585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21792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A6646B"/>
                  </a:solidFill>
                  <a:latin typeface="Tenor Sans"/>
                  <a:ea typeface="Tenor Sans"/>
                  <a:cs typeface="Tenor Sans"/>
                  <a:sym typeface="Tenor Sans"/>
                </a:rPr>
                <a:t>✓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92788" y="4567428"/>
            <a:ext cx="8641080" cy="754380"/>
            <a:chOff x="0" y="0"/>
            <a:chExt cx="115214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21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192" r="0" b="-17319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5214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07"/>
                </a:lnSpc>
              </a:pPr>
              <a:r>
                <a:rPr lang="en-US" sz="2849" spc="56">
                  <a:solidFill>
                    <a:srgbClr val="FFF5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Generate failure links using BFS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8304" y="5568696"/>
            <a:ext cx="466344" cy="466344"/>
            <a:chOff x="0" y="0"/>
            <a:chExt cx="621792" cy="6217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5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08304" y="5644896"/>
            <a:ext cx="466344" cy="493776"/>
            <a:chOff x="0" y="0"/>
            <a:chExt cx="621792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1792" cy="658368"/>
            </a:xfrm>
            <a:custGeom>
              <a:avLst/>
              <a:gdLst/>
              <a:ahLst/>
              <a:cxnLst/>
              <a:rect r="r" b="b" t="t" l="l"/>
              <a:pathLst>
                <a:path h="658368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850" t="0" r="-8585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21792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A6646B"/>
                  </a:solidFill>
                  <a:latin typeface="Tenor Sans"/>
                  <a:ea typeface="Tenor Sans"/>
                  <a:cs typeface="Tenor Sans"/>
                  <a:sym typeface="Tenor Sans"/>
                </a:rPr>
                <a:t>✓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92788" y="5384292"/>
            <a:ext cx="8641080" cy="905876"/>
            <a:chOff x="0" y="0"/>
            <a:chExt cx="11521440" cy="12078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21440" cy="1207834"/>
            </a:xfrm>
            <a:custGeom>
              <a:avLst/>
              <a:gdLst/>
              <a:ahLst/>
              <a:cxnLst/>
              <a:rect r="r" b="b" t="t" l="l"/>
              <a:pathLst>
                <a:path h="1207834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207834"/>
                  </a:lnTo>
                  <a:lnTo>
                    <a:pt x="0" y="1207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228" r="0" b="-1275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1521440" cy="1226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4"/>
                </a:lnSpc>
              </a:pPr>
              <a:r>
                <a:rPr lang="en-US" sz="2749" spc="54">
                  <a:solidFill>
                    <a:srgbClr val="FFF5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Search multiple patterns efficiently in a single pass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120" y="6576822"/>
            <a:ext cx="466344" cy="466344"/>
            <a:chOff x="0" y="0"/>
            <a:chExt cx="621792" cy="6217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5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0120" y="6731127"/>
            <a:ext cx="362712" cy="384048"/>
            <a:chOff x="0" y="0"/>
            <a:chExt cx="621792" cy="6583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1792" cy="658368"/>
            </a:xfrm>
            <a:custGeom>
              <a:avLst/>
              <a:gdLst/>
              <a:ahLst/>
              <a:cxnLst/>
              <a:rect r="r" b="b" t="t" l="l"/>
              <a:pathLst>
                <a:path h="658368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850" t="0" r="-8585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21792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A6646B"/>
                  </a:solidFill>
                  <a:latin typeface="Tenor Sans"/>
                  <a:ea typeface="Tenor Sans"/>
                  <a:cs typeface="Tenor Sans"/>
                  <a:sym typeface="Tenor Sans"/>
                </a:rPr>
                <a:t>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45920" y="6432804"/>
            <a:ext cx="8641080" cy="754380"/>
            <a:chOff x="0" y="0"/>
            <a:chExt cx="115214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521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192" r="0" b="-1731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15214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15"/>
                </a:lnSpc>
              </a:pPr>
              <a:r>
                <a:rPr lang="en-US" sz="2449" spc="48">
                  <a:solidFill>
                    <a:srgbClr val="FFF5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Display all detected matches and their exact positions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120" y="7557516"/>
            <a:ext cx="466344" cy="466344"/>
            <a:chOff x="0" y="0"/>
            <a:chExt cx="621792" cy="6217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5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74738" y="7358634"/>
            <a:ext cx="818050" cy="866171"/>
            <a:chOff x="0" y="0"/>
            <a:chExt cx="621792" cy="6583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1792" cy="658368"/>
            </a:xfrm>
            <a:custGeom>
              <a:avLst/>
              <a:gdLst/>
              <a:ahLst/>
              <a:cxnLst/>
              <a:rect r="r" b="b" t="t" l="l"/>
              <a:pathLst>
                <a:path h="658368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850" t="0" r="-8585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21792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A6646B"/>
                  </a:solidFill>
                  <a:latin typeface="Tenor Sans"/>
                  <a:ea typeface="Tenor Sans"/>
                  <a:cs typeface="Tenor Sans"/>
                  <a:sym typeface="Tenor Sans"/>
                </a:rPr>
                <a:t>✓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45920" y="7557516"/>
            <a:ext cx="8641080" cy="926694"/>
            <a:chOff x="0" y="0"/>
            <a:chExt cx="11521440" cy="1235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521440" cy="1235592"/>
            </a:xfrm>
            <a:custGeom>
              <a:avLst/>
              <a:gdLst/>
              <a:ahLst/>
              <a:cxnLst/>
              <a:rect r="r" b="b" t="t" l="l"/>
              <a:pathLst>
                <a:path h="1235592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235592"/>
                  </a:lnTo>
                  <a:lnTo>
                    <a:pt x="0" y="1235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88" r="0" b="-12239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1521440" cy="1254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07"/>
                </a:lnSpc>
              </a:pPr>
              <a:r>
                <a:rPr lang="en-US" sz="2849" spc="56">
                  <a:solidFill>
                    <a:srgbClr val="FFF5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Demonstrate the advantage of Aho–Corasick over repeated single-pattern search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894695" y="2665095"/>
            <a:ext cx="6465570" cy="6739890"/>
            <a:chOff x="0" y="0"/>
            <a:chExt cx="8620760" cy="8986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620760" cy="8986520"/>
            </a:xfrm>
            <a:custGeom>
              <a:avLst/>
              <a:gdLst/>
              <a:ahLst/>
              <a:cxnLst/>
              <a:rect r="r" b="b" t="t" l="l"/>
              <a:pathLst>
                <a:path h="8986520" w="8620760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8363966" y="0"/>
                  </a:lnTo>
                  <a:cubicBezTo>
                    <a:pt x="8505825" y="0"/>
                    <a:pt x="8620760" y="114935"/>
                    <a:pt x="8620760" y="256794"/>
                  </a:cubicBezTo>
                  <a:lnTo>
                    <a:pt x="8620760" y="8729726"/>
                  </a:lnTo>
                  <a:cubicBezTo>
                    <a:pt x="8620760" y="8871585"/>
                    <a:pt x="8505825" y="8986520"/>
                    <a:pt x="8363966" y="8986520"/>
                  </a:cubicBezTo>
                  <a:lnTo>
                    <a:pt x="256794" y="8986520"/>
                  </a:lnTo>
                  <a:cubicBezTo>
                    <a:pt x="114935" y="8986520"/>
                    <a:pt x="0" y="8871585"/>
                    <a:pt x="0" y="8729726"/>
                  </a:cubicBezTo>
                  <a:close/>
                </a:path>
              </a:pathLst>
            </a:custGeom>
            <a:solidFill>
              <a:srgbClr val="FFF5F0"/>
            </a:solidFill>
            <a:ln w="19050" cap="sq">
              <a:solidFill>
                <a:srgbClr val="1C4262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384280" y="3113532"/>
            <a:ext cx="5486400" cy="548640"/>
            <a:chOff x="0" y="0"/>
            <a:chExt cx="73152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A6646B"/>
                  </a:solidFill>
                  <a:latin typeface="Tenor Sans"/>
                  <a:ea typeface="Tenor Sans"/>
                  <a:cs typeface="Tenor Sans"/>
                  <a:sym typeface="Tenor Sans"/>
                </a:rPr>
                <a:t>REAL-WORLD APPLICATIONS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384280" y="3977640"/>
            <a:ext cx="630936" cy="630936"/>
            <a:chOff x="0" y="0"/>
            <a:chExt cx="841248" cy="8412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4944" y="0"/>
                  </a:lnTo>
                  <a:cubicBezTo>
                    <a:pt x="775716" y="0"/>
                    <a:pt x="841248" y="65532"/>
                    <a:pt x="841248" y="146304"/>
                  </a:cubicBezTo>
                  <a:lnTo>
                    <a:pt x="841248" y="694944"/>
                  </a:lnTo>
                  <a:cubicBezTo>
                    <a:pt x="841248" y="775716"/>
                    <a:pt x="775716" y="841248"/>
                    <a:pt x="694944" y="841248"/>
                  </a:cubicBezTo>
                  <a:lnTo>
                    <a:pt x="146304" y="841248"/>
                  </a:lnTo>
                  <a:cubicBezTo>
                    <a:pt x="65532" y="841248"/>
                    <a:pt x="0" y="775716"/>
                    <a:pt x="0" y="694944"/>
                  </a:cubicBezTo>
                  <a:close/>
                </a:path>
              </a:pathLst>
            </a:custGeom>
            <a:solidFill>
              <a:srgbClr val="A6646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384280" y="3977640"/>
            <a:ext cx="630936" cy="630936"/>
            <a:chOff x="0" y="0"/>
            <a:chExt cx="841248" cy="8412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84124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5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275820" y="3977640"/>
            <a:ext cx="4526280" cy="630936"/>
            <a:chOff x="0" y="0"/>
            <a:chExt cx="6035040" cy="8412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35040" cy="841248"/>
            </a:xfrm>
            <a:custGeom>
              <a:avLst/>
              <a:gdLst/>
              <a:ahLst/>
              <a:cxnLst/>
              <a:rect r="r" b="b" t="t" l="l"/>
              <a:pathLst>
                <a:path h="841248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783" r="0" b="-8978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603504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>
                  <a:solidFill>
                    <a:srgbClr val="A6646B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TEXT ANALYSIS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384280" y="5047488"/>
            <a:ext cx="630936" cy="630936"/>
            <a:chOff x="0" y="0"/>
            <a:chExt cx="841248" cy="8412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4944" y="0"/>
                  </a:lnTo>
                  <a:cubicBezTo>
                    <a:pt x="775716" y="0"/>
                    <a:pt x="841248" y="65532"/>
                    <a:pt x="841248" y="146304"/>
                  </a:cubicBezTo>
                  <a:lnTo>
                    <a:pt x="841248" y="694944"/>
                  </a:lnTo>
                  <a:cubicBezTo>
                    <a:pt x="841248" y="775716"/>
                    <a:pt x="775716" y="841248"/>
                    <a:pt x="694944" y="841248"/>
                  </a:cubicBezTo>
                  <a:lnTo>
                    <a:pt x="146304" y="841248"/>
                  </a:lnTo>
                  <a:cubicBezTo>
                    <a:pt x="65532" y="841248"/>
                    <a:pt x="0" y="775716"/>
                    <a:pt x="0" y="694944"/>
                  </a:cubicBezTo>
                  <a:close/>
                </a:path>
              </a:pathLst>
            </a:custGeom>
            <a:solidFill>
              <a:srgbClr val="A6646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384280" y="5047488"/>
            <a:ext cx="630936" cy="630936"/>
            <a:chOff x="0" y="0"/>
            <a:chExt cx="841248" cy="8412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84124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5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2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275820" y="5047488"/>
            <a:ext cx="4526280" cy="630936"/>
            <a:chOff x="0" y="0"/>
            <a:chExt cx="6035040" cy="8412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35040" cy="841248"/>
            </a:xfrm>
            <a:custGeom>
              <a:avLst/>
              <a:gdLst/>
              <a:ahLst/>
              <a:cxnLst/>
              <a:rect r="r" b="b" t="t" l="l"/>
              <a:pathLst>
                <a:path h="841248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783" r="0" b="-8978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603504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>
                  <a:solidFill>
                    <a:srgbClr val="A6646B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SPAM DETECTION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384280" y="6117336"/>
            <a:ext cx="630936" cy="630936"/>
            <a:chOff x="0" y="0"/>
            <a:chExt cx="841248" cy="84124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4944" y="0"/>
                  </a:lnTo>
                  <a:cubicBezTo>
                    <a:pt x="775716" y="0"/>
                    <a:pt x="841248" y="65532"/>
                    <a:pt x="841248" y="146304"/>
                  </a:cubicBezTo>
                  <a:lnTo>
                    <a:pt x="841248" y="694944"/>
                  </a:lnTo>
                  <a:cubicBezTo>
                    <a:pt x="841248" y="775716"/>
                    <a:pt x="775716" y="841248"/>
                    <a:pt x="694944" y="841248"/>
                  </a:cubicBezTo>
                  <a:lnTo>
                    <a:pt x="146304" y="841248"/>
                  </a:lnTo>
                  <a:cubicBezTo>
                    <a:pt x="65532" y="841248"/>
                    <a:pt x="0" y="775716"/>
                    <a:pt x="0" y="694944"/>
                  </a:cubicBezTo>
                  <a:close/>
                </a:path>
              </a:pathLst>
            </a:custGeom>
            <a:solidFill>
              <a:srgbClr val="A6646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384280" y="6117336"/>
            <a:ext cx="630936" cy="630936"/>
            <a:chOff x="0" y="0"/>
            <a:chExt cx="841248" cy="8412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84124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5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275820" y="6117336"/>
            <a:ext cx="4526280" cy="630936"/>
            <a:chOff x="0" y="0"/>
            <a:chExt cx="6035040" cy="8412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35040" cy="841248"/>
            </a:xfrm>
            <a:custGeom>
              <a:avLst/>
              <a:gdLst/>
              <a:ahLst/>
              <a:cxnLst/>
              <a:rect r="r" b="b" t="t" l="l"/>
              <a:pathLst>
                <a:path h="841248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783" r="0" b="-8978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603504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>
                  <a:solidFill>
                    <a:srgbClr val="A6646B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SEARCH SYSTEMS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384280" y="7187184"/>
            <a:ext cx="630936" cy="630936"/>
            <a:chOff x="0" y="0"/>
            <a:chExt cx="841248" cy="8412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4944" y="0"/>
                  </a:lnTo>
                  <a:cubicBezTo>
                    <a:pt x="775716" y="0"/>
                    <a:pt x="841248" y="65532"/>
                    <a:pt x="841248" y="146304"/>
                  </a:cubicBezTo>
                  <a:lnTo>
                    <a:pt x="841248" y="694944"/>
                  </a:lnTo>
                  <a:cubicBezTo>
                    <a:pt x="841248" y="775716"/>
                    <a:pt x="775716" y="841248"/>
                    <a:pt x="694944" y="841248"/>
                  </a:cubicBezTo>
                  <a:lnTo>
                    <a:pt x="146304" y="841248"/>
                  </a:lnTo>
                  <a:cubicBezTo>
                    <a:pt x="65532" y="841248"/>
                    <a:pt x="0" y="775716"/>
                    <a:pt x="0" y="694944"/>
                  </a:cubicBezTo>
                  <a:close/>
                </a:path>
              </a:pathLst>
            </a:custGeom>
            <a:solidFill>
              <a:srgbClr val="A6646B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384280" y="7187184"/>
            <a:ext cx="630936" cy="630936"/>
            <a:chOff x="0" y="0"/>
            <a:chExt cx="841248" cy="8412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84124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5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4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275820" y="7187184"/>
            <a:ext cx="4526280" cy="630936"/>
            <a:chOff x="0" y="0"/>
            <a:chExt cx="6035040" cy="84124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035040" cy="841248"/>
            </a:xfrm>
            <a:custGeom>
              <a:avLst/>
              <a:gdLst/>
              <a:ahLst/>
              <a:cxnLst/>
              <a:rect r="r" b="b" t="t" l="l"/>
              <a:pathLst>
                <a:path h="841248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783" r="0" b="-8978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603504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9"/>
                </a:lnSpc>
              </a:pPr>
              <a:r>
                <a:rPr lang="en-US" sz="2624">
                  <a:solidFill>
                    <a:srgbClr val="A6646B"/>
                  </a:solidFill>
                  <a:latin typeface="Tenor Sans"/>
                  <a:ea typeface="Tenor Sans"/>
                  <a:cs typeface="Tenor Sans"/>
                  <a:sym typeface="Tenor Sans"/>
                </a:rPr>
                <a:t>INTRUSION DETECTION</a:t>
              </a:r>
            </a:p>
          </p:txBody>
        </p:sp>
      </p:grpSp>
      <p:sp>
        <p:nvSpPr>
          <p:cNvPr name="AutoShape 85" id="85"/>
          <p:cNvSpPr/>
          <p:nvPr/>
        </p:nvSpPr>
        <p:spPr>
          <a:xfrm rot="4020">
            <a:off x="950585" y="9665018"/>
            <a:ext cx="16382248" cy="0"/>
          </a:xfrm>
          <a:prstGeom prst="line">
            <a:avLst/>
          </a:prstGeom>
          <a:ln cap="rnd" w="9525">
            <a:solidFill>
              <a:srgbClr val="FFF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6" id="86"/>
          <p:cNvGrpSpPr/>
          <p:nvPr/>
        </p:nvGrpSpPr>
        <p:grpSpPr>
          <a:xfrm rot="0">
            <a:off x="960120" y="9765792"/>
            <a:ext cx="16363188" cy="438912"/>
            <a:chOff x="0" y="0"/>
            <a:chExt cx="21817584" cy="58521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817585" cy="585216"/>
            </a:xfrm>
            <a:custGeom>
              <a:avLst/>
              <a:gdLst/>
              <a:ahLst/>
              <a:cxnLst/>
              <a:rect r="r" b="b" t="t" l="l"/>
              <a:pathLst>
                <a:path h="585216" w="21817585">
                  <a:moveTo>
                    <a:pt x="0" y="0"/>
                  </a:moveTo>
                  <a:lnTo>
                    <a:pt x="21817585" y="0"/>
                  </a:lnTo>
                  <a:lnTo>
                    <a:pt x="21817585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6426" r="0" b="-67642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21817584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31">
                  <a:solidFill>
                    <a:srgbClr val="FFF5F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Team 6   •   Data Structures and Algorithms – 3 (25CS2103E)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DAHSzZX_3LA</dc:identifier>
  <dcterms:modified xsi:type="dcterms:W3CDTF">2011-08-01T06:04:30Z</dcterms:modified>
  <cp:revision>1</cp:revision>
  <dc:title>MultiPattern_Scanner-2.pptx</dc:title>
</cp:coreProperties>
</file>